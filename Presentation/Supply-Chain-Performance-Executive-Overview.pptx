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DM Sans" pitchFamily="2" charset="0"/>
      <p:regular r:id="rId13"/>
    </p:embeddedFont>
    <p:embeddedFont>
      <p:font typeface="PT Serif" panose="020A0603040505020204" pitchFamily="18"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514" y="250"/>
      </p:cViewPr>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733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sv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 Id="rId9"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47132" y="618887"/>
            <a:ext cx="13096741" cy="1474708"/>
          </a:xfrm>
          <a:prstGeom prst="rect">
            <a:avLst/>
          </a:prstGeom>
          <a:noFill/>
          <a:ln/>
        </p:spPr>
        <p:txBody>
          <a:bodyPr wrap="square" lIns="0" tIns="0" rIns="0" bIns="0" rtlCol="0" anchor="t"/>
          <a:lstStyle/>
          <a:p>
            <a:pPr marL="0" indent="0" algn="l">
              <a:lnSpc>
                <a:spcPts val="5800"/>
              </a:lnSpc>
              <a:buNone/>
            </a:pPr>
            <a:r>
              <a:rPr lang="en-US" sz="4600" dirty="0">
                <a:solidFill>
                  <a:srgbClr val="020202"/>
                </a:solidFill>
                <a:latin typeface="PT Serif" pitchFamily="34" charset="0"/>
                <a:ea typeface="PT Serif" pitchFamily="34" charset="-122"/>
                <a:cs typeface="PT Serif" pitchFamily="34" charset="-120"/>
              </a:rPr>
              <a:t>Supply Chain Performance – Executive Overview</a:t>
            </a:r>
            <a:endParaRPr lang="en-US" sz="4600" dirty="0"/>
          </a:p>
        </p:txBody>
      </p:sp>
      <p:sp>
        <p:nvSpPr>
          <p:cNvPr id="4" name="Text 1"/>
          <p:cNvSpPr/>
          <p:nvPr/>
        </p:nvSpPr>
        <p:spPr>
          <a:xfrm>
            <a:off x="2752435" y="1697712"/>
            <a:ext cx="8463775" cy="1438275"/>
          </a:xfrm>
          <a:prstGeom prst="rect">
            <a:avLst/>
          </a:prstGeom>
          <a:noFill/>
          <a:ln/>
        </p:spPr>
        <p:txBody>
          <a:bodyPr wrap="square" lIns="0" tIns="0" rIns="0" bIns="0" rtlCol="0" anchor="t"/>
          <a:lstStyle/>
          <a:p>
            <a:pPr marL="0" indent="0" algn="just">
              <a:lnSpc>
                <a:spcPts val="2800"/>
              </a:lnSpc>
              <a:buNone/>
            </a:pPr>
            <a:r>
              <a:rPr lang="en-US" sz="1750" dirty="0">
                <a:solidFill>
                  <a:srgbClr val="383838"/>
                </a:solidFill>
                <a:latin typeface="DM Sans" pitchFamily="34" charset="0"/>
                <a:ea typeface="DM Sans" pitchFamily="34" charset="-122"/>
                <a:cs typeface="DM Sans" pitchFamily="34" charset="-120"/>
              </a:rPr>
              <a:t>Our supply chain analysis reveals critical operational opportunities across delivery, inventory, and supplier management. While gross margins remain robust at approximately 99%, operational execution presents significant improvement potential.</a:t>
            </a:r>
            <a:endParaRPr lang="en-US" sz="1750" dirty="0"/>
          </a:p>
        </p:txBody>
      </p:sp>
      <p:sp>
        <p:nvSpPr>
          <p:cNvPr id="5" name="Text 2"/>
          <p:cNvSpPr/>
          <p:nvPr/>
        </p:nvSpPr>
        <p:spPr>
          <a:xfrm>
            <a:off x="2752435" y="3370897"/>
            <a:ext cx="8463775" cy="1438275"/>
          </a:xfrm>
          <a:prstGeom prst="rect">
            <a:avLst/>
          </a:prstGeom>
          <a:noFill/>
          <a:ln/>
        </p:spPr>
        <p:txBody>
          <a:bodyPr wrap="square" lIns="0" tIns="0" rIns="0" bIns="0" rtlCol="0" anchor="t"/>
          <a:lstStyle/>
          <a:p>
            <a:pPr marL="0" indent="0" algn="just">
              <a:lnSpc>
                <a:spcPts val="2800"/>
              </a:lnSpc>
              <a:buNone/>
            </a:pPr>
            <a:r>
              <a:rPr lang="en-US" sz="1750" dirty="0">
                <a:solidFill>
                  <a:srgbClr val="383838"/>
                </a:solidFill>
                <a:latin typeface="DM Sans" pitchFamily="34" charset="0"/>
                <a:ea typeface="DM Sans" pitchFamily="34" charset="-122"/>
                <a:cs typeface="DM Sans" pitchFamily="34" charset="-120"/>
              </a:rPr>
              <a:t>On-time delivery performance stands at 76%, positioning delivery reliability as our primary operational risk. This translates to nearly one in four shipments arriving late, impacting customer satisfaction and operational predictability.</a:t>
            </a:r>
            <a:endParaRPr lang="en-US" sz="1750" dirty="0"/>
          </a:p>
        </p:txBody>
      </p:sp>
      <p:sp>
        <p:nvSpPr>
          <p:cNvPr id="6" name="Text 3"/>
          <p:cNvSpPr/>
          <p:nvPr/>
        </p:nvSpPr>
        <p:spPr>
          <a:xfrm>
            <a:off x="2752434" y="4770358"/>
            <a:ext cx="8463775" cy="1797844"/>
          </a:xfrm>
          <a:prstGeom prst="rect">
            <a:avLst/>
          </a:prstGeom>
          <a:noFill/>
          <a:ln/>
        </p:spPr>
        <p:txBody>
          <a:bodyPr wrap="square" lIns="0" tIns="0" rIns="0" bIns="0" rtlCol="0" anchor="t"/>
          <a:lstStyle/>
          <a:p>
            <a:pPr marL="0" indent="0" algn="just">
              <a:lnSpc>
                <a:spcPts val="2800"/>
              </a:lnSpc>
              <a:buNone/>
            </a:pPr>
            <a:r>
              <a:rPr lang="en-US" sz="1750" dirty="0">
                <a:solidFill>
                  <a:srgbClr val="383838"/>
                </a:solidFill>
                <a:latin typeface="DM Sans" pitchFamily="34" charset="0"/>
                <a:ea typeface="DM Sans" pitchFamily="34" charset="-122"/>
                <a:cs typeface="DM Sans" pitchFamily="34" charset="-120"/>
              </a:rPr>
              <a:t>Inventory exposure represents 42% of revenue, with cosmetics showing disproportionate overstock risk. This capital allocation challenge presents immediate working capital optimization opportunities. Additionally, delivery and quality risks are concentrated among specific carriers and suppliers, enabling targeted intervention strategies.</a:t>
            </a:r>
            <a:endParaRPr lang="en-US" sz="1750" dirty="0"/>
          </a:p>
        </p:txBody>
      </p:sp>
      <p:sp>
        <p:nvSpPr>
          <p:cNvPr id="7" name="Rectangle 6">
            <a:extLst>
              <a:ext uri="{FF2B5EF4-FFF2-40B4-BE49-F238E27FC236}">
                <a16:creationId xmlns:a16="http://schemas.microsoft.com/office/drawing/2014/main" id="{10C76FB1-CED4-9338-5F0B-FC5B8CBFF1CF}"/>
              </a:ext>
            </a:extLst>
          </p:cNvPr>
          <p:cNvSpPr/>
          <p:nvPr/>
        </p:nvSpPr>
        <p:spPr>
          <a:xfrm>
            <a:off x="12443460" y="7581900"/>
            <a:ext cx="2133600" cy="591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170282" y="1539658"/>
            <a:ext cx="2742367" cy="1325800"/>
          </a:xfrm>
          <a:prstGeom prst="rect">
            <a:avLst/>
          </a:prstGeom>
        </p:spPr>
      </p:pic>
      <p:sp>
        <p:nvSpPr>
          <p:cNvPr id="3" name="Text 0"/>
          <p:cNvSpPr/>
          <p:nvPr/>
        </p:nvSpPr>
        <p:spPr>
          <a:xfrm>
            <a:off x="715685" y="690683"/>
            <a:ext cx="8467963" cy="756880"/>
          </a:xfrm>
          <a:prstGeom prst="rect">
            <a:avLst/>
          </a:prstGeom>
          <a:noFill/>
          <a:ln/>
        </p:spPr>
        <p:txBody>
          <a:bodyPr wrap="none" lIns="0" tIns="0" rIns="0" bIns="0" rtlCol="0" anchor="t"/>
          <a:lstStyle/>
          <a:p>
            <a:pPr marL="0" indent="0" algn="l">
              <a:lnSpc>
                <a:spcPts val="3400"/>
              </a:lnSpc>
              <a:buNone/>
            </a:pPr>
            <a:r>
              <a:rPr lang="en-US" sz="2700" dirty="0">
                <a:solidFill>
                  <a:srgbClr val="020202"/>
                </a:solidFill>
                <a:latin typeface="PT Serif" pitchFamily="34" charset="0"/>
                <a:ea typeface="PT Serif" pitchFamily="34" charset="-122"/>
                <a:cs typeface="PT Serif" pitchFamily="34" charset="-120"/>
              </a:rPr>
              <a:t>Delivery Reliability Is the Main Operational Constraint</a:t>
            </a:r>
            <a:endParaRPr lang="en-US" sz="2700" dirty="0"/>
          </a:p>
        </p:txBody>
      </p:sp>
      <p:pic>
        <p:nvPicPr>
          <p:cNvPr id="4" name="Image 1" descr="preencoded.png"/>
          <p:cNvPicPr>
            <a:picLocks noChangeAspect="1"/>
          </p:cNvPicPr>
          <p:nvPr/>
        </p:nvPicPr>
        <p:blipFill>
          <a:blip r:embed="rId4"/>
          <a:stretch>
            <a:fillRect/>
          </a:stretch>
        </p:blipFill>
        <p:spPr>
          <a:xfrm>
            <a:off x="715685" y="1539658"/>
            <a:ext cx="3098482" cy="1647468"/>
          </a:xfrm>
          <a:prstGeom prst="rect">
            <a:avLst/>
          </a:prstGeom>
        </p:spPr>
      </p:pic>
      <p:sp>
        <p:nvSpPr>
          <p:cNvPr id="5" name="Text 1"/>
          <p:cNvSpPr/>
          <p:nvPr/>
        </p:nvSpPr>
        <p:spPr>
          <a:xfrm>
            <a:off x="715685" y="4017169"/>
            <a:ext cx="4288869" cy="438507"/>
          </a:xfrm>
          <a:prstGeom prst="rect">
            <a:avLst/>
          </a:prstGeom>
          <a:noFill/>
          <a:ln/>
        </p:spPr>
        <p:txBody>
          <a:bodyPr wrap="none" lIns="0" tIns="0" rIns="0" bIns="0" rtlCol="0" anchor="t"/>
          <a:lstStyle/>
          <a:p>
            <a:pPr marL="0" indent="0" algn="ctr">
              <a:lnSpc>
                <a:spcPts val="3450"/>
              </a:lnSpc>
              <a:buNone/>
            </a:pPr>
            <a:r>
              <a:rPr lang="en-US" sz="3450" dirty="0">
                <a:solidFill>
                  <a:srgbClr val="383838"/>
                </a:solidFill>
                <a:latin typeface="PT Serif" pitchFamily="34" charset="0"/>
                <a:ea typeface="PT Serif" pitchFamily="34" charset="-122"/>
                <a:cs typeface="PT Serif" pitchFamily="34" charset="-120"/>
              </a:rPr>
              <a:t>24%</a:t>
            </a:r>
            <a:endParaRPr lang="en-US" sz="3450" dirty="0"/>
          </a:p>
        </p:txBody>
      </p:sp>
      <p:sp>
        <p:nvSpPr>
          <p:cNvPr id="6" name="Text 2"/>
          <p:cNvSpPr/>
          <p:nvPr/>
        </p:nvSpPr>
        <p:spPr>
          <a:xfrm>
            <a:off x="1987868" y="4621768"/>
            <a:ext cx="1744504" cy="218003"/>
          </a:xfrm>
          <a:prstGeom prst="rect">
            <a:avLst/>
          </a:prstGeom>
          <a:noFill/>
          <a:ln/>
        </p:spPr>
        <p:txBody>
          <a:bodyPr wrap="none" lIns="0" tIns="0" rIns="0" bIns="0" rtlCol="0" anchor="t"/>
          <a:lstStyle/>
          <a:p>
            <a:pPr marL="0" indent="0" algn="ctr">
              <a:lnSpc>
                <a:spcPts val="1700"/>
              </a:lnSpc>
              <a:buNone/>
            </a:pPr>
            <a:r>
              <a:rPr lang="en-US" sz="1350" dirty="0">
                <a:solidFill>
                  <a:srgbClr val="383838"/>
                </a:solidFill>
                <a:latin typeface="PT Serif" pitchFamily="34" charset="0"/>
                <a:ea typeface="PT Serif" pitchFamily="34" charset="-122"/>
                <a:cs typeface="PT Serif" pitchFamily="34" charset="-120"/>
              </a:rPr>
              <a:t>Shipments Late</a:t>
            </a:r>
            <a:endParaRPr lang="en-US" sz="1350" dirty="0"/>
          </a:p>
        </p:txBody>
      </p:sp>
      <p:sp>
        <p:nvSpPr>
          <p:cNvPr id="7" name="Text 3"/>
          <p:cNvSpPr/>
          <p:nvPr/>
        </p:nvSpPr>
        <p:spPr>
          <a:xfrm>
            <a:off x="715685" y="4919424"/>
            <a:ext cx="4288869" cy="212527"/>
          </a:xfrm>
          <a:prstGeom prst="rect">
            <a:avLst/>
          </a:prstGeom>
          <a:noFill/>
          <a:ln/>
        </p:spPr>
        <p:txBody>
          <a:bodyPr wrap="none" lIns="0" tIns="0" rIns="0" bIns="0" rtlCol="0" anchor="t"/>
          <a:lstStyle/>
          <a:p>
            <a:pPr marL="0" indent="0" algn="ctr">
              <a:lnSpc>
                <a:spcPts val="1650"/>
              </a:lnSpc>
              <a:buNone/>
            </a:pPr>
            <a:r>
              <a:rPr lang="en-US" sz="1000" dirty="0">
                <a:solidFill>
                  <a:srgbClr val="383838"/>
                </a:solidFill>
                <a:latin typeface="DM Sans" pitchFamily="34" charset="0"/>
                <a:ea typeface="DM Sans" pitchFamily="34" charset="-122"/>
                <a:cs typeface="DM Sans" pitchFamily="34" charset="-120"/>
              </a:rPr>
              <a:t>Nearly one quarter of all deliveries miss committed dates</a:t>
            </a:r>
            <a:endParaRPr lang="en-US" sz="1000" dirty="0"/>
          </a:p>
        </p:txBody>
      </p:sp>
      <p:sp>
        <p:nvSpPr>
          <p:cNvPr id="8" name="Text 4"/>
          <p:cNvSpPr/>
          <p:nvPr/>
        </p:nvSpPr>
        <p:spPr>
          <a:xfrm>
            <a:off x="5170646" y="4017169"/>
            <a:ext cx="4288988" cy="438507"/>
          </a:xfrm>
          <a:prstGeom prst="rect">
            <a:avLst/>
          </a:prstGeom>
          <a:noFill/>
          <a:ln/>
        </p:spPr>
        <p:txBody>
          <a:bodyPr wrap="none" lIns="0" tIns="0" rIns="0" bIns="0" rtlCol="0" anchor="t"/>
          <a:lstStyle/>
          <a:p>
            <a:pPr marL="0" indent="0" algn="ctr">
              <a:lnSpc>
                <a:spcPts val="3450"/>
              </a:lnSpc>
              <a:buNone/>
            </a:pPr>
            <a:r>
              <a:rPr lang="en-US" sz="3450" dirty="0">
                <a:solidFill>
                  <a:srgbClr val="383838"/>
                </a:solidFill>
                <a:latin typeface="PT Serif" pitchFamily="34" charset="0"/>
                <a:ea typeface="PT Serif" pitchFamily="34" charset="-122"/>
                <a:cs typeface="PT Serif" pitchFamily="34" charset="-120"/>
              </a:rPr>
              <a:t>2</a:t>
            </a:r>
            <a:endParaRPr lang="en-US" sz="3450" dirty="0"/>
          </a:p>
        </p:txBody>
      </p:sp>
      <p:sp>
        <p:nvSpPr>
          <p:cNvPr id="9" name="Text 5"/>
          <p:cNvSpPr/>
          <p:nvPr/>
        </p:nvSpPr>
        <p:spPr>
          <a:xfrm>
            <a:off x="6442829" y="4621768"/>
            <a:ext cx="1744504" cy="218003"/>
          </a:xfrm>
          <a:prstGeom prst="rect">
            <a:avLst/>
          </a:prstGeom>
          <a:noFill/>
          <a:ln/>
        </p:spPr>
        <p:txBody>
          <a:bodyPr wrap="none" lIns="0" tIns="0" rIns="0" bIns="0" rtlCol="0" anchor="t"/>
          <a:lstStyle/>
          <a:p>
            <a:pPr marL="0" indent="0" algn="ctr">
              <a:lnSpc>
                <a:spcPts val="1700"/>
              </a:lnSpc>
              <a:buNone/>
            </a:pPr>
            <a:r>
              <a:rPr lang="en-US" sz="1350" dirty="0">
                <a:solidFill>
                  <a:srgbClr val="383838"/>
                </a:solidFill>
                <a:latin typeface="PT Serif" pitchFamily="34" charset="0"/>
                <a:ea typeface="PT Serif" pitchFamily="34" charset="-122"/>
                <a:cs typeface="PT Serif" pitchFamily="34" charset="-120"/>
              </a:rPr>
              <a:t>Average Days Delayed</a:t>
            </a:r>
            <a:endParaRPr lang="en-US" sz="1350" dirty="0"/>
          </a:p>
        </p:txBody>
      </p:sp>
      <p:sp>
        <p:nvSpPr>
          <p:cNvPr id="10" name="Text 6"/>
          <p:cNvSpPr/>
          <p:nvPr/>
        </p:nvSpPr>
        <p:spPr>
          <a:xfrm>
            <a:off x="5170646" y="4919424"/>
            <a:ext cx="4288988" cy="212527"/>
          </a:xfrm>
          <a:prstGeom prst="rect">
            <a:avLst/>
          </a:prstGeom>
          <a:noFill/>
          <a:ln/>
        </p:spPr>
        <p:txBody>
          <a:bodyPr wrap="none" lIns="0" tIns="0" rIns="0" bIns="0" rtlCol="0" anchor="t"/>
          <a:lstStyle/>
          <a:p>
            <a:pPr marL="0" indent="0" algn="ctr">
              <a:lnSpc>
                <a:spcPts val="1650"/>
              </a:lnSpc>
              <a:buNone/>
            </a:pPr>
            <a:r>
              <a:rPr lang="en-US" sz="1000" dirty="0">
                <a:solidFill>
                  <a:srgbClr val="383838"/>
                </a:solidFill>
                <a:latin typeface="DM Sans" pitchFamily="34" charset="0"/>
                <a:ea typeface="DM Sans" pitchFamily="34" charset="-122"/>
                <a:cs typeface="DM Sans" pitchFamily="34" charset="-120"/>
              </a:rPr>
              <a:t>Typical delay duration when shipments are late</a:t>
            </a:r>
            <a:endParaRPr lang="en-US" sz="1000" dirty="0"/>
          </a:p>
        </p:txBody>
      </p:sp>
      <p:sp>
        <p:nvSpPr>
          <p:cNvPr id="11" name="Text 7"/>
          <p:cNvSpPr/>
          <p:nvPr/>
        </p:nvSpPr>
        <p:spPr>
          <a:xfrm>
            <a:off x="9625727" y="4017169"/>
            <a:ext cx="4288988" cy="438507"/>
          </a:xfrm>
          <a:prstGeom prst="rect">
            <a:avLst/>
          </a:prstGeom>
          <a:noFill/>
          <a:ln/>
        </p:spPr>
        <p:txBody>
          <a:bodyPr wrap="none" lIns="0" tIns="0" rIns="0" bIns="0" rtlCol="0" anchor="t"/>
          <a:lstStyle/>
          <a:p>
            <a:pPr marL="0" indent="0" algn="ctr">
              <a:lnSpc>
                <a:spcPts val="3450"/>
              </a:lnSpc>
              <a:buNone/>
            </a:pPr>
            <a:r>
              <a:rPr lang="en-US" sz="3450" dirty="0">
                <a:solidFill>
                  <a:srgbClr val="383838"/>
                </a:solidFill>
                <a:latin typeface="PT Serif" pitchFamily="34" charset="0"/>
                <a:ea typeface="PT Serif" pitchFamily="34" charset="-122"/>
                <a:cs typeface="PT Serif" pitchFamily="34" charset="-120"/>
              </a:rPr>
              <a:t>30%</a:t>
            </a:r>
            <a:endParaRPr lang="en-US" sz="3450" dirty="0"/>
          </a:p>
        </p:txBody>
      </p:sp>
      <p:sp>
        <p:nvSpPr>
          <p:cNvPr id="12" name="Text 8"/>
          <p:cNvSpPr/>
          <p:nvPr/>
        </p:nvSpPr>
        <p:spPr>
          <a:xfrm>
            <a:off x="10897910" y="4621768"/>
            <a:ext cx="1744504" cy="218003"/>
          </a:xfrm>
          <a:prstGeom prst="rect">
            <a:avLst/>
          </a:prstGeom>
          <a:noFill/>
          <a:ln/>
        </p:spPr>
        <p:txBody>
          <a:bodyPr wrap="none" lIns="0" tIns="0" rIns="0" bIns="0" rtlCol="0" anchor="t"/>
          <a:lstStyle/>
          <a:p>
            <a:pPr marL="0" indent="0" algn="ctr">
              <a:lnSpc>
                <a:spcPts val="1700"/>
              </a:lnSpc>
              <a:buNone/>
            </a:pPr>
            <a:r>
              <a:rPr lang="en-US" sz="1350" dirty="0">
                <a:solidFill>
                  <a:srgbClr val="383838"/>
                </a:solidFill>
                <a:latin typeface="PT Serif" pitchFamily="34" charset="0"/>
                <a:ea typeface="PT Serif" pitchFamily="34" charset="-122"/>
                <a:cs typeface="PT Serif" pitchFamily="34" charset="-120"/>
              </a:rPr>
              <a:t>Carrier B Late Rate</a:t>
            </a:r>
            <a:endParaRPr lang="en-US" sz="1350" dirty="0"/>
          </a:p>
        </p:txBody>
      </p:sp>
      <p:sp>
        <p:nvSpPr>
          <p:cNvPr id="13" name="Text 9"/>
          <p:cNvSpPr/>
          <p:nvPr/>
        </p:nvSpPr>
        <p:spPr>
          <a:xfrm>
            <a:off x="9625727" y="4919424"/>
            <a:ext cx="4288988" cy="212527"/>
          </a:xfrm>
          <a:prstGeom prst="rect">
            <a:avLst/>
          </a:prstGeom>
          <a:noFill/>
          <a:ln/>
        </p:spPr>
        <p:txBody>
          <a:bodyPr wrap="none" lIns="0" tIns="0" rIns="0" bIns="0" rtlCol="0" anchor="t"/>
          <a:lstStyle/>
          <a:p>
            <a:pPr marL="0" indent="0" algn="ctr">
              <a:lnSpc>
                <a:spcPts val="1650"/>
              </a:lnSpc>
              <a:buNone/>
            </a:pPr>
            <a:r>
              <a:rPr lang="en-US" sz="1000" dirty="0">
                <a:solidFill>
                  <a:srgbClr val="383838"/>
                </a:solidFill>
                <a:latin typeface="DM Sans" pitchFamily="34" charset="0"/>
                <a:ea typeface="DM Sans" pitchFamily="34" charset="-122"/>
                <a:cs typeface="DM Sans" pitchFamily="34" charset="-120"/>
              </a:rPr>
              <a:t>Highest late delivery percentage among all carriers</a:t>
            </a:r>
            <a:endParaRPr lang="en-US" sz="1000" dirty="0"/>
          </a:p>
        </p:txBody>
      </p:sp>
      <p:sp>
        <p:nvSpPr>
          <p:cNvPr id="14" name="Text 10"/>
          <p:cNvSpPr/>
          <p:nvPr/>
        </p:nvSpPr>
        <p:spPr>
          <a:xfrm>
            <a:off x="715685" y="5593735"/>
            <a:ext cx="13199031" cy="425053"/>
          </a:xfrm>
          <a:prstGeom prst="rect">
            <a:avLst/>
          </a:prstGeom>
          <a:noFill/>
          <a:ln/>
        </p:spPr>
        <p:txBody>
          <a:bodyPr wrap="square" lIns="0" tIns="0" rIns="0" bIns="0" rtlCol="0" anchor="t"/>
          <a:lstStyle/>
          <a:p>
            <a:pPr marL="0" indent="0" algn="l">
              <a:lnSpc>
                <a:spcPts val="1650"/>
              </a:lnSpc>
              <a:buNone/>
            </a:pPr>
            <a:r>
              <a:rPr lang="en-US" sz="1000" dirty="0">
                <a:solidFill>
                  <a:srgbClr val="383838"/>
                </a:solidFill>
                <a:latin typeface="DM Sans" pitchFamily="34" charset="0"/>
                <a:ea typeface="DM Sans" pitchFamily="34" charset="-122"/>
                <a:cs typeface="DM Sans" pitchFamily="34" charset="-120"/>
              </a:rPr>
              <a:t>Late shipments represent a systemic operational issue rather than isolated disruptions. With 24% of shipments arriving late and an average delay of 2 days, we face a structural reliability challenge that impacts customer commitments and downstream operations.</a:t>
            </a:r>
            <a:endParaRPr lang="en-US" sz="1000" dirty="0"/>
          </a:p>
        </p:txBody>
      </p:sp>
      <p:pic>
        <p:nvPicPr>
          <p:cNvPr id="15" name="Image 2" descr="preencoded.png"/>
          <p:cNvPicPr>
            <a:picLocks noChangeAspect="1"/>
          </p:cNvPicPr>
          <p:nvPr/>
        </p:nvPicPr>
        <p:blipFill>
          <a:blip r:embed="rId5"/>
          <a:stretch>
            <a:fillRect/>
          </a:stretch>
        </p:blipFill>
        <p:spPr>
          <a:xfrm>
            <a:off x="7717752" y="1447563"/>
            <a:ext cx="3540798" cy="1739563"/>
          </a:xfrm>
          <a:prstGeom prst="rect">
            <a:avLst/>
          </a:prstGeom>
        </p:spPr>
      </p:pic>
      <p:sp>
        <p:nvSpPr>
          <p:cNvPr id="16" name="Text 11"/>
          <p:cNvSpPr/>
          <p:nvPr/>
        </p:nvSpPr>
        <p:spPr>
          <a:xfrm>
            <a:off x="715684" y="6356984"/>
            <a:ext cx="13199031" cy="425053"/>
          </a:xfrm>
          <a:prstGeom prst="rect">
            <a:avLst/>
          </a:prstGeom>
          <a:noFill/>
          <a:ln/>
        </p:spPr>
        <p:txBody>
          <a:bodyPr wrap="square" lIns="0" tIns="0" rIns="0" bIns="0" rtlCol="0" anchor="t"/>
          <a:lstStyle/>
          <a:p>
            <a:pPr marL="0" indent="0" algn="l">
              <a:lnSpc>
                <a:spcPts val="1650"/>
              </a:lnSpc>
              <a:buNone/>
            </a:pPr>
            <a:r>
              <a:rPr lang="en-US" sz="1000" dirty="0">
                <a:solidFill>
                  <a:srgbClr val="383838"/>
                </a:solidFill>
                <a:latin typeface="DM Sans" pitchFamily="34" charset="0"/>
                <a:ea typeface="DM Sans" pitchFamily="34" charset="-122"/>
                <a:cs typeface="DM Sans" pitchFamily="34" charset="-120"/>
              </a:rPr>
              <a:t>Carrier B emerges as the primary contributor, accounting for approximately 28–30% late delivery rates. This concentration of underperformance suggests specific carrier relationship issues requiring immediate executive attention and potential contract renegotiation.</a:t>
            </a:r>
            <a:endParaRPr lang="en-US" sz="1000" dirty="0"/>
          </a:p>
        </p:txBody>
      </p:sp>
      <p:sp>
        <p:nvSpPr>
          <p:cNvPr id="17" name="Rectangle 16">
            <a:extLst>
              <a:ext uri="{FF2B5EF4-FFF2-40B4-BE49-F238E27FC236}">
                <a16:creationId xmlns:a16="http://schemas.microsoft.com/office/drawing/2014/main" id="{3DD197D1-0B71-BF97-B459-544D540BAF6C}"/>
              </a:ext>
            </a:extLst>
          </p:cNvPr>
          <p:cNvSpPr/>
          <p:nvPr/>
        </p:nvSpPr>
        <p:spPr>
          <a:xfrm>
            <a:off x="12443460" y="7581900"/>
            <a:ext cx="2133600" cy="591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71514" y="811649"/>
            <a:ext cx="13165098" cy="1042035"/>
          </a:xfrm>
          <a:prstGeom prst="rect">
            <a:avLst/>
          </a:prstGeom>
          <a:noFill/>
          <a:ln/>
        </p:spPr>
        <p:txBody>
          <a:bodyPr wrap="square" lIns="0" tIns="0" rIns="0" bIns="0" rtlCol="0" anchor="t"/>
          <a:lstStyle/>
          <a:p>
            <a:pPr marL="0" indent="0" algn="l">
              <a:lnSpc>
                <a:spcPts val="4100"/>
              </a:lnSpc>
              <a:buNone/>
            </a:pPr>
            <a:r>
              <a:rPr lang="en-US" sz="3250" dirty="0">
                <a:solidFill>
                  <a:srgbClr val="020202"/>
                </a:solidFill>
                <a:latin typeface="PT Serif" pitchFamily="34" charset="0"/>
                <a:ea typeface="PT Serif" pitchFamily="34" charset="-122"/>
                <a:cs typeface="PT Serif" pitchFamily="34" charset="-120"/>
              </a:rPr>
              <a:t>Carrier–Transport Mode Combinations Drive SLA Failures</a:t>
            </a:r>
            <a:endParaRPr lang="en-US" sz="3250" dirty="0"/>
          </a:p>
        </p:txBody>
      </p:sp>
      <p:sp>
        <p:nvSpPr>
          <p:cNvPr id="4" name="Text 1"/>
          <p:cNvSpPr/>
          <p:nvPr/>
        </p:nvSpPr>
        <p:spPr>
          <a:xfrm>
            <a:off x="6280190" y="2250519"/>
            <a:ext cx="3048238" cy="312539"/>
          </a:xfrm>
          <a:prstGeom prst="rect">
            <a:avLst/>
          </a:prstGeom>
          <a:noFill/>
          <a:ln/>
        </p:spPr>
        <p:txBody>
          <a:bodyPr wrap="none" lIns="0" tIns="0" rIns="0" bIns="0" rtlCol="0" anchor="t"/>
          <a:lstStyle/>
          <a:p>
            <a:pPr marL="0" indent="0" algn="l">
              <a:lnSpc>
                <a:spcPts val="2450"/>
              </a:lnSpc>
              <a:buNone/>
            </a:pPr>
            <a:r>
              <a:rPr lang="en-US" sz="1950" dirty="0">
                <a:solidFill>
                  <a:srgbClr val="020202"/>
                </a:solidFill>
                <a:latin typeface="PT Serif" pitchFamily="34" charset="0"/>
                <a:ea typeface="PT Serif" pitchFamily="34" charset="-122"/>
                <a:cs typeface="PT Serif" pitchFamily="34" charset="-120"/>
              </a:rPr>
              <a:t>Highest-Risk Combinations</a:t>
            </a:r>
            <a:endParaRPr lang="en-US" sz="1950" dirty="0"/>
          </a:p>
        </p:txBody>
      </p:sp>
      <p:sp>
        <p:nvSpPr>
          <p:cNvPr id="5" name="Text 2"/>
          <p:cNvSpPr/>
          <p:nvPr/>
        </p:nvSpPr>
        <p:spPr>
          <a:xfrm>
            <a:off x="6280190" y="2721769"/>
            <a:ext cx="3584615" cy="508159"/>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383838"/>
                </a:solidFill>
                <a:latin typeface="DM Sans" pitchFamily="34" charset="0"/>
                <a:ea typeface="DM Sans" pitchFamily="34" charset="-122"/>
                <a:cs typeface="DM Sans" pitchFamily="34" charset="-120"/>
              </a:rPr>
              <a:t>Air transport:</a:t>
            </a:r>
            <a:r>
              <a:rPr lang="en-US" sz="1250" dirty="0">
                <a:solidFill>
                  <a:srgbClr val="383838"/>
                </a:solidFill>
                <a:latin typeface="DM Sans" pitchFamily="34" charset="0"/>
                <a:ea typeface="DM Sans" pitchFamily="34" charset="-122"/>
                <a:cs typeface="DM Sans" pitchFamily="34" charset="-120"/>
              </a:rPr>
              <a:t> 38% late delivery rate across carriers</a:t>
            </a:r>
            <a:endParaRPr lang="en-US" sz="1250" dirty="0"/>
          </a:p>
        </p:txBody>
      </p:sp>
      <p:sp>
        <p:nvSpPr>
          <p:cNvPr id="6" name="Text 3"/>
          <p:cNvSpPr/>
          <p:nvPr/>
        </p:nvSpPr>
        <p:spPr>
          <a:xfrm>
            <a:off x="6280190" y="3285411"/>
            <a:ext cx="3584615" cy="508159"/>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383838"/>
                </a:solidFill>
                <a:latin typeface="DM Sans" pitchFamily="34" charset="0"/>
                <a:ea typeface="DM Sans" pitchFamily="34" charset="-122"/>
                <a:cs typeface="DM Sans" pitchFamily="34" charset="-120"/>
              </a:rPr>
              <a:t>Road transport:</a:t>
            </a:r>
            <a:r>
              <a:rPr lang="en-US" sz="1250" dirty="0">
                <a:solidFill>
                  <a:srgbClr val="383838"/>
                </a:solidFill>
                <a:latin typeface="DM Sans" pitchFamily="34" charset="0"/>
                <a:ea typeface="DM Sans" pitchFamily="34" charset="-122"/>
                <a:cs typeface="DM Sans" pitchFamily="34" charset="-120"/>
              </a:rPr>
              <a:t> 28% late delivery rate, concentrated with Carrier B</a:t>
            </a:r>
            <a:endParaRPr lang="en-US" sz="1250" dirty="0"/>
          </a:p>
        </p:txBody>
      </p:sp>
      <p:sp>
        <p:nvSpPr>
          <p:cNvPr id="7" name="Text 4"/>
          <p:cNvSpPr/>
          <p:nvPr/>
        </p:nvSpPr>
        <p:spPr>
          <a:xfrm>
            <a:off x="6280190" y="3849053"/>
            <a:ext cx="3584615" cy="508159"/>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383838"/>
                </a:solidFill>
                <a:latin typeface="DM Sans" pitchFamily="34" charset="0"/>
                <a:ea typeface="DM Sans" pitchFamily="34" charset="-122"/>
                <a:cs typeface="DM Sans" pitchFamily="34" charset="-120"/>
              </a:rPr>
              <a:t>Carrier B + Air:</a:t>
            </a:r>
            <a:r>
              <a:rPr lang="en-US" sz="1250" dirty="0">
                <a:solidFill>
                  <a:srgbClr val="383838"/>
                </a:solidFill>
                <a:latin typeface="DM Sans" pitchFamily="34" charset="0"/>
                <a:ea typeface="DM Sans" pitchFamily="34" charset="-122"/>
                <a:cs typeface="DM Sans" pitchFamily="34" charset="-120"/>
              </a:rPr>
              <a:t> Worst-performing SLA combination overall</a:t>
            </a:r>
            <a:endParaRPr lang="en-US" sz="1250" dirty="0"/>
          </a:p>
        </p:txBody>
      </p:sp>
      <p:sp>
        <p:nvSpPr>
          <p:cNvPr id="8" name="Text 5"/>
          <p:cNvSpPr/>
          <p:nvPr/>
        </p:nvSpPr>
        <p:spPr>
          <a:xfrm>
            <a:off x="6280190" y="4412694"/>
            <a:ext cx="3717250" cy="600679"/>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383838"/>
                </a:solidFill>
                <a:latin typeface="DM Sans" pitchFamily="34" charset="0"/>
                <a:ea typeface="DM Sans" pitchFamily="34" charset="-122"/>
                <a:cs typeface="DM Sans" pitchFamily="34" charset="-120"/>
              </a:rPr>
              <a:t>Carrier B + Road:</a:t>
            </a:r>
            <a:r>
              <a:rPr lang="en-US" sz="1250" dirty="0">
                <a:solidFill>
                  <a:srgbClr val="383838"/>
                </a:solidFill>
                <a:latin typeface="DM Sans" pitchFamily="34" charset="0"/>
                <a:ea typeface="DM Sans" pitchFamily="34" charset="-122"/>
                <a:cs typeface="DM Sans" pitchFamily="34" charset="-120"/>
              </a:rPr>
              <a:t> Secondary high-risk pairing requiring intervention</a:t>
            </a:r>
            <a:endParaRPr lang="en-US" sz="1250" dirty="0"/>
          </a:p>
        </p:txBody>
      </p:sp>
      <p:sp>
        <p:nvSpPr>
          <p:cNvPr id="9" name="Text 6"/>
          <p:cNvSpPr/>
          <p:nvPr/>
        </p:nvSpPr>
        <p:spPr>
          <a:xfrm>
            <a:off x="786170" y="5330428"/>
            <a:ext cx="7543444" cy="808433"/>
          </a:xfrm>
          <a:prstGeom prst="rect">
            <a:avLst/>
          </a:prstGeom>
          <a:noFill/>
          <a:ln/>
        </p:spPr>
        <p:txBody>
          <a:bodyPr wrap="square" lIns="0" tIns="0" rIns="0" bIns="0" rtlCol="0" anchor="t"/>
          <a:lstStyle/>
          <a:p>
            <a:pPr marL="0" indent="0" algn="just">
              <a:lnSpc>
                <a:spcPts val="2000"/>
              </a:lnSpc>
              <a:buNone/>
            </a:pPr>
            <a:r>
              <a:rPr lang="en-US" sz="1250" dirty="0">
                <a:solidFill>
                  <a:srgbClr val="383838"/>
                </a:solidFill>
                <a:latin typeface="DM Sans" pitchFamily="34" charset="0"/>
                <a:ea typeface="DM Sans" pitchFamily="34" charset="-122"/>
                <a:cs typeface="DM Sans" pitchFamily="34" charset="-120"/>
              </a:rPr>
              <a:t>The data reveals that transport mode selection significantly impacts delivery performance, with air and road showing systematic challenges that compound when paired with underperforming carriers.</a:t>
            </a:r>
            <a:endParaRPr lang="en-US" sz="1250" dirty="0"/>
          </a:p>
        </p:txBody>
      </p:sp>
      <p:sp>
        <p:nvSpPr>
          <p:cNvPr id="10" name="Text 7"/>
          <p:cNvSpPr/>
          <p:nvPr/>
        </p:nvSpPr>
        <p:spPr>
          <a:xfrm>
            <a:off x="10259616" y="2250519"/>
            <a:ext cx="2839760" cy="312539"/>
          </a:xfrm>
          <a:prstGeom prst="rect">
            <a:avLst/>
          </a:prstGeom>
          <a:noFill/>
          <a:ln/>
        </p:spPr>
        <p:txBody>
          <a:bodyPr wrap="none" lIns="0" tIns="0" rIns="0" bIns="0" rtlCol="0" anchor="t"/>
          <a:lstStyle/>
          <a:p>
            <a:pPr marL="0" indent="0" algn="l">
              <a:lnSpc>
                <a:spcPts val="2450"/>
              </a:lnSpc>
              <a:buNone/>
            </a:pPr>
            <a:r>
              <a:rPr lang="en-US" sz="1950" dirty="0">
                <a:solidFill>
                  <a:srgbClr val="020202"/>
                </a:solidFill>
                <a:latin typeface="PT Serif" pitchFamily="34" charset="0"/>
                <a:ea typeface="PT Serif" pitchFamily="34" charset="-122"/>
                <a:cs typeface="PT Serif" pitchFamily="34" charset="-120"/>
              </a:rPr>
              <a:t>Stable Performance Areas</a:t>
            </a:r>
            <a:endParaRPr lang="en-US" sz="1950" dirty="0"/>
          </a:p>
        </p:txBody>
      </p:sp>
      <p:sp>
        <p:nvSpPr>
          <p:cNvPr id="11" name="Text 8"/>
          <p:cNvSpPr/>
          <p:nvPr/>
        </p:nvSpPr>
        <p:spPr>
          <a:xfrm>
            <a:off x="10259616" y="2721769"/>
            <a:ext cx="3584615" cy="762238"/>
          </a:xfrm>
          <a:prstGeom prst="rect">
            <a:avLst/>
          </a:prstGeom>
          <a:noFill/>
          <a:ln/>
        </p:spPr>
        <p:txBody>
          <a:bodyPr wrap="square" lIns="0" tIns="0" rIns="0" bIns="0" rtlCol="0" anchor="t"/>
          <a:lstStyle/>
          <a:p>
            <a:pPr marL="0" indent="0" algn="l">
              <a:lnSpc>
                <a:spcPts val="2000"/>
              </a:lnSpc>
              <a:buNone/>
            </a:pPr>
            <a:r>
              <a:rPr lang="en-US" sz="1250" dirty="0">
                <a:solidFill>
                  <a:srgbClr val="383838"/>
                </a:solidFill>
                <a:latin typeface="DM Sans" pitchFamily="34" charset="0"/>
                <a:ea typeface="DM Sans" pitchFamily="34" charset="-122"/>
                <a:cs typeface="DM Sans" pitchFamily="34" charset="-120"/>
              </a:rPr>
              <a:t>Rail transport generally demonstrates reliability, though Carrier C on Rail shows elevated late risk at 33%, warranting monitoring.</a:t>
            </a:r>
            <a:endParaRPr lang="en-US" sz="1250" dirty="0"/>
          </a:p>
        </p:txBody>
      </p:sp>
      <p:sp>
        <p:nvSpPr>
          <p:cNvPr id="13" name="Text 9"/>
          <p:cNvSpPr/>
          <p:nvPr/>
        </p:nvSpPr>
        <p:spPr>
          <a:xfrm>
            <a:off x="786170" y="6179821"/>
            <a:ext cx="7364850" cy="762238"/>
          </a:xfrm>
          <a:prstGeom prst="rect">
            <a:avLst/>
          </a:prstGeom>
          <a:noFill/>
          <a:ln/>
        </p:spPr>
        <p:txBody>
          <a:bodyPr wrap="square" lIns="0" tIns="0" rIns="0" bIns="0" rtlCol="0" anchor="t"/>
          <a:lstStyle/>
          <a:p>
            <a:pPr marL="0" indent="0" algn="just">
              <a:lnSpc>
                <a:spcPts val="2000"/>
              </a:lnSpc>
              <a:buNone/>
            </a:pPr>
            <a:r>
              <a:rPr lang="en-US" sz="1250" dirty="0">
                <a:solidFill>
                  <a:srgbClr val="383838"/>
                </a:solidFill>
                <a:latin typeface="DM Sans" pitchFamily="34" charset="0"/>
                <a:ea typeface="DM Sans" pitchFamily="34" charset="-122"/>
                <a:cs typeface="DM Sans" pitchFamily="34" charset="-120"/>
              </a:rPr>
              <a:t>These carrier–mode combinations represent actionable intervention points. By rebalancing volume away from high-risk pairings, we can immediately improve overall delivery performance without requiring systemic operational changes.</a:t>
            </a:r>
            <a:endParaRPr lang="en-US" sz="1250" dirty="0"/>
          </a:p>
        </p:txBody>
      </p:sp>
      <p:pic>
        <p:nvPicPr>
          <p:cNvPr id="15" name="Picture 14">
            <a:extLst>
              <a:ext uri="{FF2B5EF4-FFF2-40B4-BE49-F238E27FC236}">
                <a16:creationId xmlns:a16="http://schemas.microsoft.com/office/drawing/2014/main" id="{8991C41A-EB7D-3944-1020-C14B93470F75}"/>
              </a:ext>
            </a:extLst>
          </p:cNvPr>
          <p:cNvPicPr>
            <a:picLocks noChangeAspect="1"/>
          </p:cNvPicPr>
          <p:nvPr/>
        </p:nvPicPr>
        <p:blipFill>
          <a:blip r:embed="rId4"/>
          <a:stretch>
            <a:fillRect/>
          </a:stretch>
        </p:blipFill>
        <p:spPr>
          <a:xfrm>
            <a:off x="786170" y="2170739"/>
            <a:ext cx="5414606" cy="3159689"/>
          </a:xfrm>
          <a:prstGeom prst="rect">
            <a:avLst/>
          </a:prstGeom>
        </p:spPr>
      </p:pic>
      <p:pic>
        <p:nvPicPr>
          <p:cNvPr id="18" name="Picture 17">
            <a:extLst>
              <a:ext uri="{FF2B5EF4-FFF2-40B4-BE49-F238E27FC236}">
                <a16:creationId xmlns:a16="http://schemas.microsoft.com/office/drawing/2014/main" id="{30046396-E05C-6EF8-E26B-ECA5BA5304E5}"/>
              </a:ext>
            </a:extLst>
          </p:cNvPr>
          <p:cNvPicPr>
            <a:picLocks noChangeAspect="1"/>
          </p:cNvPicPr>
          <p:nvPr/>
        </p:nvPicPr>
        <p:blipFill>
          <a:blip r:embed="rId5"/>
          <a:stretch>
            <a:fillRect/>
          </a:stretch>
        </p:blipFill>
        <p:spPr>
          <a:xfrm>
            <a:off x="10203214" y="3642718"/>
            <a:ext cx="4092858" cy="2796182"/>
          </a:xfrm>
          <a:prstGeom prst="rect">
            <a:avLst/>
          </a:prstGeom>
        </p:spPr>
      </p:pic>
      <p:sp>
        <p:nvSpPr>
          <p:cNvPr id="19" name="Rectangle 18">
            <a:extLst>
              <a:ext uri="{FF2B5EF4-FFF2-40B4-BE49-F238E27FC236}">
                <a16:creationId xmlns:a16="http://schemas.microsoft.com/office/drawing/2014/main" id="{5ABDAEC8-8056-D7CC-883D-E1F1FEBB2570}"/>
              </a:ext>
            </a:extLst>
          </p:cNvPr>
          <p:cNvSpPr/>
          <p:nvPr/>
        </p:nvSpPr>
        <p:spPr>
          <a:xfrm>
            <a:off x="12443460" y="7581900"/>
            <a:ext cx="2133600" cy="591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122432" y="574358"/>
            <a:ext cx="6717983" cy="387548"/>
          </a:xfrm>
          <a:prstGeom prst="rect">
            <a:avLst/>
          </a:prstGeom>
          <a:noFill/>
          <a:ln/>
        </p:spPr>
        <p:txBody>
          <a:bodyPr wrap="none" lIns="0" tIns="0" rIns="0" bIns="0" rtlCol="0" anchor="t"/>
          <a:lstStyle/>
          <a:p>
            <a:pPr marL="0" indent="0" algn="l">
              <a:lnSpc>
                <a:spcPts val="3050"/>
              </a:lnSpc>
              <a:buNone/>
            </a:pPr>
            <a:r>
              <a:rPr lang="en-US" sz="2400" dirty="0">
                <a:solidFill>
                  <a:srgbClr val="020202"/>
                </a:solidFill>
                <a:latin typeface="PT Serif" pitchFamily="34" charset="0"/>
                <a:ea typeface="PT Serif" pitchFamily="34" charset="-122"/>
                <a:cs typeface="PT Serif" pitchFamily="34" charset="-120"/>
              </a:rPr>
              <a:t>Profitability Is Strong but Operationally Exposed</a:t>
            </a:r>
            <a:endParaRPr lang="en-US" sz="2400" dirty="0"/>
          </a:p>
        </p:txBody>
      </p:sp>
      <p:sp>
        <p:nvSpPr>
          <p:cNvPr id="4" name="Text 1"/>
          <p:cNvSpPr/>
          <p:nvPr/>
        </p:nvSpPr>
        <p:spPr>
          <a:xfrm>
            <a:off x="6122432" y="1139071"/>
            <a:ext cx="7871936" cy="377904"/>
          </a:xfrm>
          <a:prstGeom prst="rect">
            <a:avLst/>
          </a:prstGeom>
          <a:noFill/>
          <a:ln/>
        </p:spPr>
        <p:txBody>
          <a:bodyPr wrap="square" lIns="0" tIns="0" rIns="0" bIns="0" rtlCol="0" anchor="t"/>
          <a:lstStyle/>
          <a:p>
            <a:pPr marL="0" indent="0" algn="l">
              <a:lnSpc>
                <a:spcPts val="1450"/>
              </a:lnSpc>
              <a:buNone/>
            </a:pPr>
            <a:r>
              <a:rPr lang="en-US" sz="900" dirty="0">
                <a:solidFill>
                  <a:srgbClr val="383838"/>
                </a:solidFill>
                <a:latin typeface="DM Sans" pitchFamily="34" charset="0"/>
                <a:ea typeface="DM Sans" pitchFamily="34" charset="-122"/>
                <a:cs typeface="DM Sans" pitchFamily="34" charset="-120"/>
              </a:rPr>
              <a:t>Our profitability foundation is solid, with gross margins near 99% indicating strong pricing power and cost management. However, operational execution gaps create unnecessary risk exposure that threatens this financial performance.</a:t>
            </a:r>
            <a:endParaRPr lang="en-US" sz="900" dirty="0"/>
          </a:p>
        </p:txBody>
      </p:sp>
      <p:sp>
        <p:nvSpPr>
          <p:cNvPr id="5" name="Shape 2"/>
          <p:cNvSpPr/>
          <p:nvPr/>
        </p:nvSpPr>
        <p:spPr>
          <a:xfrm>
            <a:off x="6122432" y="1649849"/>
            <a:ext cx="7871936" cy="1239798"/>
          </a:xfrm>
          <a:prstGeom prst="roundRect">
            <a:avLst>
              <a:gd name="adj" fmla="val 1429"/>
            </a:avLst>
          </a:prstGeom>
          <a:solidFill>
            <a:srgbClr val="FFFFFF"/>
          </a:solidFill>
          <a:ln w="15240">
            <a:solidFill>
              <a:srgbClr val="D8D4D4"/>
            </a:solidFill>
            <a:prstDash val="solid"/>
          </a:ln>
        </p:spPr>
        <p:txBody>
          <a:bodyPr/>
          <a:lstStyle/>
          <a:p>
            <a:endParaRPr lang="en-US"/>
          </a:p>
        </p:txBody>
      </p:sp>
      <p:sp>
        <p:nvSpPr>
          <p:cNvPr id="6" name="Shape 3"/>
          <p:cNvSpPr/>
          <p:nvPr/>
        </p:nvSpPr>
        <p:spPr>
          <a:xfrm>
            <a:off x="6137672" y="1665089"/>
            <a:ext cx="472440" cy="1209318"/>
          </a:xfrm>
          <a:prstGeom prst="rect">
            <a:avLst/>
          </a:prstGeom>
          <a:solidFill>
            <a:srgbClr val="F2EEEE"/>
          </a:solidFill>
          <a:ln/>
        </p:spPr>
        <p:txBody>
          <a:bodyPr/>
          <a:lstStyle/>
          <a:p>
            <a:endParaRPr lang="en-US"/>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85309" y="2181106"/>
            <a:ext cx="177165" cy="177165"/>
          </a:xfrm>
          <a:prstGeom prst="rect">
            <a:avLst/>
          </a:prstGeom>
        </p:spPr>
      </p:pic>
      <p:sp>
        <p:nvSpPr>
          <p:cNvPr id="8" name="Text 4"/>
          <p:cNvSpPr/>
          <p:nvPr/>
        </p:nvSpPr>
        <p:spPr>
          <a:xfrm>
            <a:off x="6728222" y="1783199"/>
            <a:ext cx="1550313" cy="1937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T Serif" pitchFamily="34" charset="0"/>
                <a:ea typeface="PT Serif" pitchFamily="34" charset="-122"/>
                <a:cs typeface="PT Serif" pitchFamily="34" charset="-120"/>
              </a:rPr>
              <a:t>Route A Performance</a:t>
            </a:r>
            <a:endParaRPr lang="en-US" sz="1200" dirty="0"/>
          </a:p>
        </p:txBody>
      </p:sp>
      <p:sp>
        <p:nvSpPr>
          <p:cNvPr id="9" name="Text 5"/>
          <p:cNvSpPr/>
          <p:nvPr/>
        </p:nvSpPr>
        <p:spPr>
          <a:xfrm>
            <a:off x="6728222" y="2047756"/>
            <a:ext cx="7132796" cy="188952"/>
          </a:xfrm>
          <a:prstGeom prst="rect">
            <a:avLst/>
          </a:prstGeom>
          <a:noFill/>
          <a:ln/>
        </p:spPr>
        <p:txBody>
          <a:bodyPr wrap="none" lIns="0" tIns="0" rIns="0" bIns="0" rtlCol="0" anchor="t"/>
          <a:lstStyle/>
          <a:p>
            <a:pPr marL="0" indent="0" algn="l">
              <a:lnSpc>
                <a:spcPts val="1450"/>
              </a:lnSpc>
              <a:buNone/>
            </a:pPr>
            <a:r>
              <a:rPr lang="en-US" sz="900" b="1" dirty="0">
                <a:solidFill>
                  <a:srgbClr val="383838"/>
                </a:solidFill>
                <a:latin typeface="DM Sans" pitchFamily="34" charset="0"/>
                <a:ea typeface="DM Sans" pitchFamily="34" charset="-122"/>
                <a:cs typeface="DM Sans" pitchFamily="34" charset="-120"/>
              </a:rPr>
              <a:t>Revenue:</a:t>
            </a:r>
            <a:r>
              <a:rPr lang="en-US" sz="900" dirty="0">
                <a:solidFill>
                  <a:srgbClr val="383838"/>
                </a:solidFill>
                <a:latin typeface="DM Sans" pitchFamily="34" charset="0"/>
                <a:ea typeface="DM Sans" pitchFamily="34" charset="-122"/>
                <a:cs typeface="DM Sans" pitchFamily="34" charset="-120"/>
              </a:rPr>
              <a:t> ~$250K</a:t>
            </a:r>
            <a:endParaRPr lang="en-US" sz="900" dirty="0"/>
          </a:p>
        </p:txBody>
      </p:sp>
      <p:sp>
        <p:nvSpPr>
          <p:cNvPr id="10" name="Text 6"/>
          <p:cNvSpPr/>
          <p:nvPr/>
        </p:nvSpPr>
        <p:spPr>
          <a:xfrm>
            <a:off x="6728222" y="2307550"/>
            <a:ext cx="7132796" cy="188952"/>
          </a:xfrm>
          <a:prstGeom prst="rect">
            <a:avLst/>
          </a:prstGeom>
          <a:noFill/>
          <a:ln/>
        </p:spPr>
        <p:txBody>
          <a:bodyPr wrap="none" lIns="0" tIns="0" rIns="0" bIns="0" rtlCol="0" anchor="t"/>
          <a:lstStyle/>
          <a:p>
            <a:pPr marL="0" indent="0" algn="l">
              <a:lnSpc>
                <a:spcPts val="1450"/>
              </a:lnSpc>
              <a:buNone/>
            </a:pPr>
            <a:r>
              <a:rPr lang="en-US" sz="900" b="1" dirty="0">
                <a:solidFill>
                  <a:srgbClr val="383838"/>
                </a:solidFill>
                <a:latin typeface="DM Sans" pitchFamily="34" charset="0"/>
                <a:ea typeface="DM Sans" pitchFamily="34" charset="-122"/>
                <a:cs typeface="DM Sans" pitchFamily="34" charset="-120"/>
              </a:rPr>
              <a:t>Margin:</a:t>
            </a:r>
            <a:r>
              <a:rPr lang="en-US" sz="900" dirty="0">
                <a:solidFill>
                  <a:srgbClr val="383838"/>
                </a:solidFill>
                <a:latin typeface="DM Sans" pitchFamily="34" charset="0"/>
                <a:ea typeface="DM Sans" pitchFamily="34" charset="-122"/>
                <a:cs typeface="DM Sans" pitchFamily="34" charset="-120"/>
              </a:rPr>
              <a:t> ~$250K</a:t>
            </a:r>
            <a:endParaRPr lang="en-US" sz="900" dirty="0"/>
          </a:p>
        </p:txBody>
      </p:sp>
      <p:sp>
        <p:nvSpPr>
          <p:cNvPr id="11" name="Text 7"/>
          <p:cNvSpPr/>
          <p:nvPr/>
        </p:nvSpPr>
        <p:spPr>
          <a:xfrm>
            <a:off x="6728222" y="2567345"/>
            <a:ext cx="7132796" cy="188952"/>
          </a:xfrm>
          <a:prstGeom prst="rect">
            <a:avLst/>
          </a:prstGeom>
          <a:noFill/>
          <a:ln/>
        </p:spPr>
        <p:txBody>
          <a:bodyPr wrap="none" lIns="0" tIns="0" rIns="0" bIns="0" rtlCol="0" anchor="t"/>
          <a:lstStyle/>
          <a:p>
            <a:pPr marL="0" indent="0" algn="l">
              <a:lnSpc>
                <a:spcPts val="1450"/>
              </a:lnSpc>
              <a:buNone/>
            </a:pPr>
            <a:r>
              <a:rPr lang="en-US" sz="900" dirty="0">
                <a:solidFill>
                  <a:srgbClr val="383838"/>
                </a:solidFill>
                <a:latin typeface="DM Sans" pitchFamily="34" charset="0"/>
                <a:ea typeface="DM Sans" pitchFamily="34" charset="-122"/>
                <a:cs typeface="DM Sans" pitchFamily="34" charset="-120"/>
              </a:rPr>
              <a:t>Highest-performing route requiring protection through optimized carrier selection and inventory allocation</a:t>
            </a:r>
            <a:endParaRPr lang="en-US" sz="900" dirty="0"/>
          </a:p>
        </p:txBody>
      </p:sp>
      <p:sp>
        <p:nvSpPr>
          <p:cNvPr id="12" name="Shape 8"/>
          <p:cNvSpPr/>
          <p:nvPr/>
        </p:nvSpPr>
        <p:spPr>
          <a:xfrm>
            <a:off x="6122432" y="3007757"/>
            <a:ext cx="7871936" cy="980003"/>
          </a:xfrm>
          <a:prstGeom prst="roundRect">
            <a:avLst>
              <a:gd name="adj" fmla="val 1808"/>
            </a:avLst>
          </a:prstGeom>
          <a:solidFill>
            <a:srgbClr val="FFFFFF"/>
          </a:solidFill>
          <a:ln w="15240">
            <a:solidFill>
              <a:srgbClr val="D8D4D4"/>
            </a:solidFill>
            <a:prstDash val="solid"/>
          </a:ln>
        </p:spPr>
        <p:txBody>
          <a:bodyPr/>
          <a:lstStyle/>
          <a:p>
            <a:endParaRPr lang="en-US"/>
          </a:p>
        </p:txBody>
      </p:sp>
      <p:sp>
        <p:nvSpPr>
          <p:cNvPr id="13" name="Shape 9"/>
          <p:cNvSpPr/>
          <p:nvPr/>
        </p:nvSpPr>
        <p:spPr>
          <a:xfrm>
            <a:off x="6137672" y="3022997"/>
            <a:ext cx="472440" cy="949523"/>
          </a:xfrm>
          <a:prstGeom prst="rect">
            <a:avLst/>
          </a:prstGeom>
          <a:solidFill>
            <a:srgbClr val="F2EEEE"/>
          </a:solidFill>
          <a:ln/>
        </p:spPr>
        <p:txBody>
          <a:bodyPr/>
          <a:lstStyle/>
          <a:p>
            <a:endParaRPr lang="en-US"/>
          </a:p>
        </p:txBody>
      </p:sp>
      <p:pic>
        <p:nvPicPr>
          <p:cNvPr id="14"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5309" y="3409117"/>
            <a:ext cx="177165" cy="177165"/>
          </a:xfrm>
          <a:prstGeom prst="rect">
            <a:avLst/>
          </a:prstGeom>
        </p:spPr>
      </p:pic>
      <p:sp>
        <p:nvSpPr>
          <p:cNvPr id="15" name="Text 10"/>
          <p:cNvSpPr/>
          <p:nvPr/>
        </p:nvSpPr>
        <p:spPr>
          <a:xfrm>
            <a:off x="6728222" y="3141107"/>
            <a:ext cx="1550313" cy="1937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T Serif" pitchFamily="34" charset="0"/>
                <a:ea typeface="PT Serif" pitchFamily="34" charset="-122"/>
                <a:cs typeface="PT Serif" pitchFamily="34" charset="-120"/>
              </a:rPr>
              <a:t>Route C Concerns</a:t>
            </a:r>
            <a:endParaRPr lang="en-US" sz="1200" dirty="0"/>
          </a:p>
        </p:txBody>
      </p:sp>
      <p:sp>
        <p:nvSpPr>
          <p:cNvPr id="16" name="Text 11"/>
          <p:cNvSpPr/>
          <p:nvPr/>
        </p:nvSpPr>
        <p:spPr>
          <a:xfrm>
            <a:off x="6728222" y="3405664"/>
            <a:ext cx="7132796" cy="188952"/>
          </a:xfrm>
          <a:prstGeom prst="rect">
            <a:avLst/>
          </a:prstGeom>
          <a:noFill/>
          <a:ln/>
        </p:spPr>
        <p:txBody>
          <a:bodyPr wrap="none" lIns="0" tIns="0" rIns="0" bIns="0" rtlCol="0" anchor="t"/>
          <a:lstStyle/>
          <a:p>
            <a:pPr marL="0" indent="0" algn="l">
              <a:lnSpc>
                <a:spcPts val="1450"/>
              </a:lnSpc>
              <a:buNone/>
            </a:pPr>
            <a:r>
              <a:rPr lang="en-US" sz="900" b="1" dirty="0">
                <a:solidFill>
                  <a:srgbClr val="383838"/>
                </a:solidFill>
                <a:latin typeface="DM Sans" pitchFamily="34" charset="0"/>
                <a:ea typeface="DM Sans" pitchFamily="34" charset="-122"/>
                <a:cs typeface="DM Sans" pitchFamily="34" charset="-120"/>
              </a:rPr>
              <a:t>Status:</a:t>
            </a:r>
            <a:r>
              <a:rPr lang="en-US" sz="900" dirty="0">
                <a:solidFill>
                  <a:srgbClr val="383838"/>
                </a:solidFill>
                <a:latin typeface="DM Sans" pitchFamily="34" charset="0"/>
                <a:ea typeface="DM Sans" pitchFamily="34" charset="-122"/>
                <a:cs typeface="DM Sans" pitchFamily="34" charset="-120"/>
              </a:rPr>
              <a:t> Underperforming</a:t>
            </a:r>
            <a:endParaRPr lang="en-US" sz="900" dirty="0"/>
          </a:p>
        </p:txBody>
      </p:sp>
      <p:sp>
        <p:nvSpPr>
          <p:cNvPr id="17" name="Text 12"/>
          <p:cNvSpPr/>
          <p:nvPr/>
        </p:nvSpPr>
        <p:spPr>
          <a:xfrm>
            <a:off x="6728222" y="3665458"/>
            <a:ext cx="7132796" cy="188952"/>
          </a:xfrm>
          <a:prstGeom prst="rect">
            <a:avLst/>
          </a:prstGeom>
          <a:noFill/>
          <a:ln/>
        </p:spPr>
        <p:txBody>
          <a:bodyPr wrap="none" lIns="0" tIns="0" rIns="0" bIns="0" rtlCol="0" anchor="t"/>
          <a:lstStyle/>
          <a:p>
            <a:pPr marL="0" indent="0" algn="l">
              <a:lnSpc>
                <a:spcPts val="1450"/>
              </a:lnSpc>
              <a:buNone/>
            </a:pPr>
            <a:r>
              <a:rPr lang="en-US" sz="900" dirty="0">
                <a:solidFill>
                  <a:srgbClr val="383838"/>
                </a:solidFill>
                <a:latin typeface="DM Sans" pitchFamily="34" charset="0"/>
                <a:ea typeface="DM Sans" pitchFamily="34" charset="-122"/>
                <a:cs typeface="DM Sans" pitchFamily="34" charset="-120"/>
              </a:rPr>
              <a:t>Generates lower margin while consuming significant inventory resources, requiring strategic reassessment</a:t>
            </a:r>
            <a:endParaRPr lang="en-US" sz="900" dirty="0"/>
          </a:p>
        </p:txBody>
      </p:sp>
      <p:sp>
        <p:nvSpPr>
          <p:cNvPr id="18" name="Shape 13"/>
          <p:cNvSpPr/>
          <p:nvPr/>
        </p:nvSpPr>
        <p:spPr>
          <a:xfrm>
            <a:off x="6122432" y="4105870"/>
            <a:ext cx="7871936" cy="980003"/>
          </a:xfrm>
          <a:prstGeom prst="roundRect">
            <a:avLst>
              <a:gd name="adj" fmla="val 1808"/>
            </a:avLst>
          </a:prstGeom>
          <a:solidFill>
            <a:srgbClr val="FFFFFF"/>
          </a:solidFill>
          <a:ln w="15240">
            <a:solidFill>
              <a:srgbClr val="D8D4D4"/>
            </a:solidFill>
            <a:prstDash val="solid"/>
          </a:ln>
        </p:spPr>
        <p:txBody>
          <a:bodyPr/>
          <a:lstStyle/>
          <a:p>
            <a:endParaRPr lang="en-US"/>
          </a:p>
        </p:txBody>
      </p:sp>
      <p:sp>
        <p:nvSpPr>
          <p:cNvPr id="19" name="Shape 14"/>
          <p:cNvSpPr/>
          <p:nvPr/>
        </p:nvSpPr>
        <p:spPr>
          <a:xfrm>
            <a:off x="6137672" y="4121110"/>
            <a:ext cx="472440" cy="949523"/>
          </a:xfrm>
          <a:prstGeom prst="rect">
            <a:avLst/>
          </a:prstGeom>
          <a:solidFill>
            <a:srgbClr val="F2EEEE"/>
          </a:solidFill>
          <a:ln/>
        </p:spPr>
        <p:txBody>
          <a:bodyPr/>
          <a:lstStyle/>
          <a:p>
            <a:endParaRPr lang="en-US"/>
          </a:p>
        </p:txBody>
      </p:sp>
      <p:pic>
        <p:nvPicPr>
          <p:cNvPr id="20"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85309" y="4507230"/>
            <a:ext cx="177165" cy="177165"/>
          </a:xfrm>
          <a:prstGeom prst="rect">
            <a:avLst/>
          </a:prstGeom>
        </p:spPr>
      </p:pic>
      <p:sp>
        <p:nvSpPr>
          <p:cNvPr id="21" name="Text 15"/>
          <p:cNvSpPr/>
          <p:nvPr/>
        </p:nvSpPr>
        <p:spPr>
          <a:xfrm>
            <a:off x="6728222" y="4239220"/>
            <a:ext cx="1550313" cy="193715"/>
          </a:xfrm>
          <a:prstGeom prst="rect">
            <a:avLst/>
          </a:prstGeom>
          <a:noFill/>
          <a:ln/>
        </p:spPr>
        <p:txBody>
          <a:bodyPr wrap="none" lIns="0" tIns="0" rIns="0" bIns="0" rtlCol="0" anchor="t"/>
          <a:lstStyle/>
          <a:p>
            <a:pPr marL="0" indent="0" algn="l">
              <a:lnSpc>
                <a:spcPts val="1500"/>
              </a:lnSpc>
              <a:buNone/>
            </a:pPr>
            <a:r>
              <a:rPr lang="en-US" sz="1200" dirty="0">
                <a:solidFill>
                  <a:srgbClr val="383838"/>
                </a:solidFill>
                <a:latin typeface="PT Serif" pitchFamily="34" charset="0"/>
                <a:ea typeface="PT Serif" pitchFamily="34" charset="-122"/>
                <a:cs typeface="PT Serif" pitchFamily="34" charset="-120"/>
              </a:rPr>
              <a:t>Supplier 1 Paradox</a:t>
            </a:r>
            <a:endParaRPr lang="en-US" sz="1200" dirty="0"/>
          </a:p>
        </p:txBody>
      </p:sp>
      <p:sp>
        <p:nvSpPr>
          <p:cNvPr id="22" name="Text 16"/>
          <p:cNvSpPr/>
          <p:nvPr/>
        </p:nvSpPr>
        <p:spPr>
          <a:xfrm>
            <a:off x="6728222" y="4503777"/>
            <a:ext cx="7132796" cy="188952"/>
          </a:xfrm>
          <a:prstGeom prst="rect">
            <a:avLst/>
          </a:prstGeom>
          <a:noFill/>
          <a:ln/>
        </p:spPr>
        <p:txBody>
          <a:bodyPr wrap="none" lIns="0" tIns="0" rIns="0" bIns="0" rtlCol="0" anchor="t"/>
          <a:lstStyle/>
          <a:p>
            <a:pPr marL="0" indent="0" algn="l">
              <a:lnSpc>
                <a:spcPts val="1450"/>
              </a:lnSpc>
              <a:buNone/>
            </a:pPr>
            <a:r>
              <a:rPr lang="en-US" sz="900" b="1" dirty="0">
                <a:solidFill>
                  <a:srgbClr val="383838"/>
                </a:solidFill>
                <a:latin typeface="DM Sans" pitchFamily="34" charset="0"/>
                <a:ea typeface="DM Sans" pitchFamily="34" charset="-122"/>
                <a:cs typeface="DM Sans" pitchFamily="34" charset="-120"/>
              </a:rPr>
              <a:t>Gross Margin:</a:t>
            </a:r>
            <a:r>
              <a:rPr lang="en-US" sz="900" dirty="0">
                <a:solidFill>
                  <a:srgbClr val="383838"/>
                </a:solidFill>
                <a:latin typeface="DM Sans" pitchFamily="34" charset="0"/>
                <a:ea typeface="DM Sans" pitchFamily="34" charset="-122"/>
                <a:cs typeface="DM Sans" pitchFamily="34" charset="-120"/>
              </a:rPr>
              <a:t> $156K</a:t>
            </a:r>
            <a:endParaRPr lang="en-US" sz="900" dirty="0"/>
          </a:p>
        </p:txBody>
      </p:sp>
      <p:sp>
        <p:nvSpPr>
          <p:cNvPr id="23" name="Text 17"/>
          <p:cNvSpPr/>
          <p:nvPr/>
        </p:nvSpPr>
        <p:spPr>
          <a:xfrm>
            <a:off x="6728222" y="4763572"/>
            <a:ext cx="7132796" cy="188952"/>
          </a:xfrm>
          <a:prstGeom prst="rect">
            <a:avLst/>
          </a:prstGeom>
          <a:noFill/>
          <a:ln/>
        </p:spPr>
        <p:txBody>
          <a:bodyPr wrap="none" lIns="0" tIns="0" rIns="0" bIns="0" rtlCol="0" anchor="t"/>
          <a:lstStyle/>
          <a:p>
            <a:pPr marL="0" indent="0" algn="l">
              <a:lnSpc>
                <a:spcPts val="1450"/>
              </a:lnSpc>
              <a:buNone/>
            </a:pPr>
            <a:r>
              <a:rPr lang="en-US" sz="900" dirty="0">
                <a:solidFill>
                  <a:srgbClr val="383838"/>
                </a:solidFill>
                <a:latin typeface="DM Sans" pitchFamily="34" charset="0"/>
                <a:ea typeface="DM Sans" pitchFamily="34" charset="-122"/>
                <a:cs typeface="DM Sans" pitchFamily="34" charset="-120"/>
              </a:rPr>
              <a:t>Contributes highest margin but shows delivery delays—quality strong, timeliness needs improvement</a:t>
            </a:r>
            <a:endParaRPr lang="en-US" sz="900" dirty="0"/>
          </a:p>
        </p:txBody>
      </p:sp>
      <p:sp>
        <p:nvSpPr>
          <p:cNvPr id="25" name="Text 18"/>
          <p:cNvSpPr/>
          <p:nvPr/>
        </p:nvSpPr>
        <p:spPr>
          <a:xfrm>
            <a:off x="6122432" y="7277219"/>
            <a:ext cx="7871936" cy="377904"/>
          </a:xfrm>
          <a:prstGeom prst="rect">
            <a:avLst/>
          </a:prstGeom>
          <a:noFill/>
          <a:ln/>
        </p:spPr>
        <p:txBody>
          <a:bodyPr wrap="square" lIns="0" tIns="0" rIns="0" bIns="0" rtlCol="0" anchor="t"/>
          <a:lstStyle/>
          <a:p>
            <a:pPr marL="0" indent="0" algn="l">
              <a:lnSpc>
                <a:spcPts val="1450"/>
              </a:lnSpc>
              <a:buNone/>
            </a:pPr>
            <a:r>
              <a:rPr lang="en-US" sz="900" dirty="0">
                <a:solidFill>
                  <a:srgbClr val="383838"/>
                </a:solidFill>
                <a:latin typeface="DM Sans" pitchFamily="34" charset="0"/>
                <a:ea typeface="DM Sans" pitchFamily="34" charset="-122"/>
                <a:cs typeface="DM Sans" pitchFamily="34" charset="-120"/>
              </a:rPr>
              <a:t>Route A represents our strategic crown jewel, delivering exceptional revenue and margin performance. Protecting this route through enhanced carrier partnerships and inventory optimization should be our highest operational priority.</a:t>
            </a:r>
            <a:endParaRPr lang="en-US" sz="900" dirty="0"/>
          </a:p>
        </p:txBody>
      </p:sp>
      <p:pic>
        <p:nvPicPr>
          <p:cNvPr id="27" name="Picture 26">
            <a:extLst>
              <a:ext uri="{FF2B5EF4-FFF2-40B4-BE49-F238E27FC236}">
                <a16:creationId xmlns:a16="http://schemas.microsoft.com/office/drawing/2014/main" id="{F753F411-DC06-D77B-D741-C5D1E8726916}"/>
              </a:ext>
            </a:extLst>
          </p:cNvPr>
          <p:cNvPicPr>
            <a:picLocks noChangeAspect="1"/>
          </p:cNvPicPr>
          <p:nvPr/>
        </p:nvPicPr>
        <p:blipFill>
          <a:blip r:embed="rId9"/>
          <a:stretch>
            <a:fillRect/>
          </a:stretch>
        </p:blipFill>
        <p:spPr>
          <a:xfrm>
            <a:off x="406599" y="2929949"/>
            <a:ext cx="4797861" cy="3005971"/>
          </a:xfrm>
          <a:prstGeom prst="rect">
            <a:avLst/>
          </a:prstGeom>
        </p:spPr>
      </p:pic>
      <p:pic>
        <p:nvPicPr>
          <p:cNvPr id="29" name="Picture 28">
            <a:extLst>
              <a:ext uri="{FF2B5EF4-FFF2-40B4-BE49-F238E27FC236}">
                <a16:creationId xmlns:a16="http://schemas.microsoft.com/office/drawing/2014/main" id="{AF8B479F-9A2A-2705-E6EF-6A2F072B5D36}"/>
              </a:ext>
            </a:extLst>
          </p:cNvPr>
          <p:cNvPicPr>
            <a:picLocks noChangeAspect="1"/>
          </p:cNvPicPr>
          <p:nvPr/>
        </p:nvPicPr>
        <p:blipFill>
          <a:blip r:embed="rId10"/>
          <a:stretch>
            <a:fillRect/>
          </a:stretch>
        </p:blipFill>
        <p:spPr>
          <a:xfrm>
            <a:off x="421839" y="464582"/>
            <a:ext cx="5286375" cy="2676525"/>
          </a:xfrm>
          <a:prstGeom prst="rect">
            <a:avLst/>
          </a:prstGeom>
        </p:spPr>
      </p:pic>
      <p:pic>
        <p:nvPicPr>
          <p:cNvPr id="31" name="Picture 30">
            <a:extLst>
              <a:ext uri="{FF2B5EF4-FFF2-40B4-BE49-F238E27FC236}">
                <a16:creationId xmlns:a16="http://schemas.microsoft.com/office/drawing/2014/main" id="{5E5D8554-8EBF-DBD3-71AD-D16D7222261F}"/>
              </a:ext>
            </a:extLst>
          </p:cNvPr>
          <p:cNvPicPr>
            <a:picLocks noChangeAspect="1"/>
          </p:cNvPicPr>
          <p:nvPr/>
        </p:nvPicPr>
        <p:blipFill>
          <a:blip r:embed="rId11"/>
          <a:stretch>
            <a:fillRect/>
          </a:stretch>
        </p:blipFill>
        <p:spPr>
          <a:xfrm>
            <a:off x="7387354" y="5141475"/>
            <a:ext cx="3928346" cy="2074230"/>
          </a:xfrm>
          <a:prstGeom prst="rect">
            <a:avLst/>
          </a:prstGeom>
        </p:spPr>
      </p:pic>
      <p:sp>
        <p:nvSpPr>
          <p:cNvPr id="32" name="Rectangle 31">
            <a:extLst>
              <a:ext uri="{FF2B5EF4-FFF2-40B4-BE49-F238E27FC236}">
                <a16:creationId xmlns:a16="http://schemas.microsoft.com/office/drawing/2014/main" id="{57A95708-0FEB-8FBC-C02D-18EFB9E01313}"/>
              </a:ext>
            </a:extLst>
          </p:cNvPr>
          <p:cNvSpPr/>
          <p:nvPr/>
        </p:nvSpPr>
        <p:spPr>
          <a:xfrm>
            <a:off x="12443460" y="7581900"/>
            <a:ext cx="2133600" cy="591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1106210" y="691988"/>
            <a:ext cx="12556450" cy="1190863"/>
          </a:xfrm>
          <a:prstGeom prst="rect">
            <a:avLst/>
          </a:prstGeom>
          <a:noFill/>
          <a:ln/>
        </p:spPr>
        <p:txBody>
          <a:bodyPr wrap="squar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Inventory Is Not Fully Aligned with Sales Velocity</a:t>
            </a:r>
            <a:endParaRPr lang="en-US" sz="3750" dirty="0"/>
          </a:p>
        </p:txBody>
      </p:sp>
      <p:sp>
        <p:nvSpPr>
          <p:cNvPr id="4" name="Text 1"/>
          <p:cNvSpPr/>
          <p:nvPr/>
        </p:nvSpPr>
        <p:spPr>
          <a:xfrm>
            <a:off x="1052869" y="1790939"/>
            <a:ext cx="10483811" cy="870823"/>
          </a:xfrm>
          <a:prstGeom prst="rect">
            <a:avLst/>
          </a:prstGeom>
          <a:noFill/>
          <a:ln/>
        </p:spPr>
        <p:txBody>
          <a:bodyPr wrap="squar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Total inventory exposure stands at 42% of revenue, indicating substantial working capital tied up in stock. This represents both a financial opportunity and an operational efficiency challenge.</a:t>
            </a:r>
            <a:endParaRPr lang="en-US" sz="1400" dirty="0"/>
          </a:p>
        </p:txBody>
      </p:sp>
      <p:sp>
        <p:nvSpPr>
          <p:cNvPr id="5" name="Text 2"/>
          <p:cNvSpPr/>
          <p:nvPr/>
        </p:nvSpPr>
        <p:spPr>
          <a:xfrm>
            <a:off x="6280190" y="2918579"/>
            <a:ext cx="3121581" cy="357188"/>
          </a:xfrm>
          <a:prstGeom prst="rect">
            <a:avLst/>
          </a:prstGeom>
          <a:noFill/>
          <a:ln/>
        </p:spPr>
        <p:txBody>
          <a:bodyPr wrap="none" lIns="0" tIns="0" rIns="0" bIns="0" rtlCol="0" anchor="t"/>
          <a:lstStyle/>
          <a:p>
            <a:pPr marL="0" indent="0" algn="l">
              <a:lnSpc>
                <a:spcPts val="2800"/>
              </a:lnSpc>
              <a:buNone/>
            </a:pPr>
            <a:r>
              <a:rPr lang="en-US" sz="2250" dirty="0">
                <a:solidFill>
                  <a:srgbClr val="020202"/>
                </a:solidFill>
                <a:latin typeface="PT Serif" pitchFamily="34" charset="0"/>
                <a:ea typeface="PT Serif" pitchFamily="34" charset="-122"/>
                <a:cs typeface="PT Serif" pitchFamily="34" charset="-120"/>
              </a:rPr>
              <a:t>Cosmetics Category Risk</a:t>
            </a:r>
            <a:endParaRPr lang="en-US" sz="2250" dirty="0"/>
          </a:p>
        </p:txBody>
      </p:sp>
      <p:sp>
        <p:nvSpPr>
          <p:cNvPr id="6" name="Text 3"/>
          <p:cNvSpPr/>
          <p:nvPr/>
        </p:nvSpPr>
        <p:spPr>
          <a:xfrm>
            <a:off x="6280189" y="3381852"/>
            <a:ext cx="5256491" cy="1741646"/>
          </a:xfrm>
          <a:prstGeom prst="rect">
            <a:avLst/>
          </a:prstGeom>
          <a:noFill/>
          <a:ln/>
        </p:spPr>
        <p:txBody>
          <a:bodyPr wrap="squar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Cosmetics holds the highest inventory exposure at 52% of revenue, suggesting either overstock conditions or slower sales velocity relative to inventory investment. This category presents the most significant working capital optimization opportunity.</a:t>
            </a:r>
            <a:endParaRPr lang="en-US" sz="1400" dirty="0"/>
          </a:p>
        </p:txBody>
      </p:sp>
      <p:sp>
        <p:nvSpPr>
          <p:cNvPr id="7" name="Text 4"/>
          <p:cNvSpPr/>
          <p:nvPr/>
        </p:nvSpPr>
        <p:spPr>
          <a:xfrm>
            <a:off x="6280188" y="5882636"/>
            <a:ext cx="2857976" cy="357188"/>
          </a:xfrm>
          <a:prstGeom prst="rect">
            <a:avLst/>
          </a:prstGeom>
          <a:noFill/>
          <a:ln/>
        </p:spPr>
        <p:txBody>
          <a:bodyPr wrap="none" lIns="0" tIns="0" rIns="0" bIns="0" rtlCol="0" anchor="t"/>
          <a:lstStyle/>
          <a:p>
            <a:pPr marL="0" indent="0" algn="l">
              <a:lnSpc>
                <a:spcPts val="2800"/>
              </a:lnSpc>
              <a:buNone/>
            </a:pPr>
            <a:r>
              <a:rPr lang="en-US" sz="2250" dirty="0">
                <a:solidFill>
                  <a:srgbClr val="020202"/>
                </a:solidFill>
                <a:latin typeface="PT Serif" pitchFamily="34" charset="0"/>
                <a:ea typeface="PT Serif" pitchFamily="34" charset="-122"/>
                <a:cs typeface="PT Serif" pitchFamily="34" charset="-120"/>
              </a:rPr>
              <a:t>Skincare Excellence</a:t>
            </a:r>
            <a:endParaRPr lang="en-US" sz="2250" dirty="0"/>
          </a:p>
        </p:txBody>
      </p:sp>
      <p:sp>
        <p:nvSpPr>
          <p:cNvPr id="8" name="Text 5"/>
          <p:cNvSpPr/>
          <p:nvPr/>
        </p:nvSpPr>
        <p:spPr>
          <a:xfrm>
            <a:off x="6280188" y="6423417"/>
            <a:ext cx="5256492" cy="870823"/>
          </a:xfrm>
          <a:prstGeom prst="rect">
            <a:avLst/>
          </a:prstGeom>
          <a:noFill/>
          <a:ln/>
        </p:spPr>
        <p:txBody>
          <a:bodyPr wrap="squar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Skincare demonstrates the strongest alignment between inventory levels and demand patterns, serving as a benchmark for other categories.</a:t>
            </a:r>
            <a:endParaRPr lang="en-US" sz="1400" dirty="0"/>
          </a:p>
        </p:txBody>
      </p:sp>
      <p:pic>
        <p:nvPicPr>
          <p:cNvPr id="11" name="Picture 10">
            <a:extLst>
              <a:ext uri="{FF2B5EF4-FFF2-40B4-BE49-F238E27FC236}">
                <a16:creationId xmlns:a16="http://schemas.microsoft.com/office/drawing/2014/main" id="{F5749662-DEB4-67B0-3E70-19CDC8AF0810}"/>
              </a:ext>
            </a:extLst>
          </p:cNvPr>
          <p:cNvPicPr>
            <a:picLocks noChangeAspect="1"/>
          </p:cNvPicPr>
          <p:nvPr/>
        </p:nvPicPr>
        <p:blipFill>
          <a:blip r:embed="rId3"/>
          <a:stretch>
            <a:fillRect/>
          </a:stretch>
        </p:blipFill>
        <p:spPr>
          <a:xfrm>
            <a:off x="991910" y="2783441"/>
            <a:ext cx="4892122" cy="2437448"/>
          </a:xfrm>
          <a:prstGeom prst="rect">
            <a:avLst/>
          </a:prstGeom>
        </p:spPr>
      </p:pic>
      <p:pic>
        <p:nvPicPr>
          <p:cNvPr id="13" name="Picture 12">
            <a:extLst>
              <a:ext uri="{FF2B5EF4-FFF2-40B4-BE49-F238E27FC236}">
                <a16:creationId xmlns:a16="http://schemas.microsoft.com/office/drawing/2014/main" id="{8752000D-D86E-8C95-55FD-8A3E38BD649F}"/>
              </a:ext>
            </a:extLst>
          </p:cNvPr>
          <p:cNvPicPr>
            <a:picLocks noChangeAspect="1"/>
          </p:cNvPicPr>
          <p:nvPr/>
        </p:nvPicPr>
        <p:blipFill>
          <a:blip r:embed="rId4"/>
          <a:stretch>
            <a:fillRect/>
          </a:stretch>
        </p:blipFill>
        <p:spPr>
          <a:xfrm>
            <a:off x="1106210" y="5019233"/>
            <a:ext cx="4227790" cy="2441181"/>
          </a:xfrm>
          <a:prstGeom prst="rect">
            <a:avLst/>
          </a:prstGeom>
        </p:spPr>
      </p:pic>
      <p:sp>
        <p:nvSpPr>
          <p:cNvPr id="14" name="Rectangle 13">
            <a:extLst>
              <a:ext uri="{FF2B5EF4-FFF2-40B4-BE49-F238E27FC236}">
                <a16:creationId xmlns:a16="http://schemas.microsoft.com/office/drawing/2014/main" id="{6B352A09-430B-5AFB-0A5C-708DD3427CD4}"/>
              </a:ext>
            </a:extLst>
          </p:cNvPr>
          <p:cNvSpPr/>
          <p:nvPr/>
        </p:nvSpPr>
        <p:spPr>
          <a:xfrm>
            <a:off x="12443460" y="7581900"/>
            <a:ext cx="2133600" cy="591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730925" y="2270998"/>
            <a:ext cx="8296394" cy="445413"/>
          </a:xfrm>
          <a:prstGeom prst="rect">
            <a:avLst/>
          </a:prstGeom>
          <a:noFill/>
          <a:ln/>
        </p:spPr>
        <p:txBody>
          <a:bodyPr wrap="none" lIns="0" tIns="0" rIns="0" bIns="0" rtlCol="0" anchor="t"/>
          <a:lstStyle/>
          <a:p>
            <a:pPr marL="0" indent="0" algn="l">
              <a:lnSpc>
                <a:spcPts val="3500"/>
              </a:lnSpc>
              <a:buNone/>
            </a:pPr>
            <a:r>
              <a:rPr lang="en-US" sz="2800" dirty="0">
                <a:solidFill>
                  <a:srgbClr val="020202"/>
                </a:solidFill>
                <a:latin typeface="PT Serif" pitchFamily="34" charset="0"/>
                <a:ea typeface="PT Serif" pitchFamily="34" charset="-122"/>
                <a:cs typeface="PT Serif" pitchFamily="34" charset="-120"/>
              </a:rPr>
              <a:t>Supplier Quality and Delivery Risk Are Concentrated</a:t>
            </a:r>
            <a:endParaRPr lang="en-US" sz="2800" dirty="0"/>
          </a:p>
        </p:txBody>
      </p:sp>
      <p:sp>
        <p:nvSpPr>
          <p:cNvPr id="4" name="Text 1"/>
          <p:cNvSpPr/>
          <p:nvPr/>
        </p:nvSpPr>
        <p:spPr>
          <a:xfrm>
            <a:off x="730925" y="2920008"/>
            <a:ext cx="13168551" cy="434340"/>
          </a:xfrm>
          <a:prstGeom prst="rect">
            <a:avLst/>
          </a:prstGeom>
          <a:noFill/>
          <a:ln/>
        </p:spPr>
        <p:txBody>
          <a:bodyPr wrap="square" lIns="0" tIns="0" rIns="0" bIns="0" rtlCol="0" anchor="t"/>
          <a:lstStyle/>
          <a:p>
            <a:pPr marL="0" indent="0" algn="l">
              <a:lnSpc>
                <a:spcPts val="1700"/>
              </a:lnSpc>
              <a:buNone/>
            </a:pPr>
            <a:r>
              <a:rPr lang="en-US" sz="1050" dirty="0">
                <a:solidFill>
                  <a:srgbClr val="383838"/>
                </a:solidFill>
                <a:latin typeface="DM Sans" pitchFamily="34" charset="0"/>
                <a:ea typeface="DM Sans" pitchFamily="34" charset="-122"/>
                <a:cs typeface="DM Sans" pitchFamily="34" charset="-120"/>
              </a:rPr>
              <a:t>Supplier risk is not evenly distributed across our supply base. Three suppliers require differentiated management strategies based on their specific risk profiles, enabling targeted resource allocation and corrective action plans.</a:t>
            </a:r>
            <a:endParaRPr lang="en-US" sz="1050" dirty="0"/>
          </a:p>
        </p:txBody>
      </p:sp>
      <p:sp>
        <p:nvSpPr>
          <p:cNvPr id="5" name="Shape 2"/>
          <p:cNvSpPr/>
          <p:nvPr/>
        </p:nvSpPr>
        <p:spPr>
          <a:xfrm>
            <a:off x="730925" y="3506986"/>
            <a:ext cx="4298990" cy="1824276"/>
          </a:xfrm>
          <a:prstGeom prst="roundRect">
            <a:avLst>
              <a:gd name="adj" fmla="val 1116"/>
            </a:avLst>
          </a:prstGeom>
          <a:solidFill>
            <a:srgbClr val="E04F00"/>
          </a:solidFill>
          <a:ln/>
        </p:spPr>
        <p:txBody>
          <a:bodyPr/>
          <a:lstStyle/>
          <a:p>
            <a:endParaRPr lang="en-US">
              <a:solidFill>
                <a:schemeClr val="bg1"/>
              </a:solidFill>
            </a:endParaRPr>
          </a:p>
        </p:txBody>
      </p:sp>
      <p:sp>
        <p:nvSpPr>
          <p:cNvPr id="6" name="Text 3"/>
          <p:cNvSpPr/>
          <p:nvPr/>
        </p:nvSpPr>
        <p:spPr>
          <a:xfrm>
            <a:off x="866656" y="3642717"/>
            <a:ext cx="1980367" cy="222647"/>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PT Serif" pitchFamily="34" charset="0"/>
                <a:ea typeface="PT Serif" pitchFamily="34" charset="-122"/>
                <a:cs typeface="PT Serif" pitchFamily="34" charset="-120"/>
              </a:rPr>
              <a:t>Supplier 5 – Highest Risk</a:t>
            </a:r>
            <a:endParaRPr lang="en-US" sz="1400" dirty="0"/>
          </a:p>
        </p:txBody>
      </p:sp>
      <p:sp>
        <p:nvSpPr>
          <p:cNvPr id="7" name="Text 4"/>
          <p:cNvSpPr/>
          <p:nvPr/>
        </p:nvSpPr>
        <p:spPr>
          <a:xfrm>
            <a:off x="866656" y="3946803"/>
            <a:ext cx="4027527" cy="217170"/>
          </a:xfrm>
          <a:prstGeom prst="rect">
            <a:avLst/>
          </a:prstGeom>
          <a:noFill/>
          <a:ln/>
        </p:spPr>
        <p:txBody>
          <a:bodyPr wrap="none" lIns="0" tIns="0" rIns="0" bIns="0" rtlCol="0" anchor="t"/>
          <a:lstStyle/>
          <a:p>
            <a:pPr marL="0" indent="0" algn="l">
              <a:lnSpc>
                <a:spcPts val="1700"/>
              </a:lnSpc>
              <a:buNone/>
            </a:pPr>
            <a:r>
              <a:rPr lang="en-US" sz="1050" b="1" dirty="0">
                <a:solidFill>
                  <a:srgbClr val="FFFFFF"/>
                </a:solidFill>
                <a:latin typeface="DM Sans" pitchFamily="34" charset="0"/>
                <a:ea typeface="DM Sans" pitchFamily="34" charset="-122"/>
                <a:cs typeface="DM Sans" pitchFamily="34" charset="-120"/>
              </a:rPr>
              <a:t>Defect Rate:</a:t>
            </a:r>
            <a:r>
              <a:rPr lang="en-US" sz="1050" dirty="0">
                <a:solidFill>
                  <a:srgbClr val="FFFFFF"/>
                </a:solidFill>
                <a:latin typeface="DM Sans" pitchFamily="34" charset="0"/>
                <a:ea typeface="DM Sans" pitchFamily="34" charset="-122"/>
                <a:cs typeface="DM Sans" pitchFamily="34" charset="-120"/>
              </a:rPr>
              <a:t> 2.67 (elevated)</a:t>
            </a:r>
            <a:endParaRPr lang="en-US" sz="1050" dirty="0"/>
          </a:p>
        </p:txBody>
      </p:sp>
      <p:sp>
        <p:nvSpPr>
          <p:cNvPr id="8" name="Text 5"/>
          <p:cNvSpPr/>
          <p:nvPr/>
        </p:nvSpPr>
        <p:spPr>
          <a:xfrm>
            <a:off x="866656" y="4245412"/>
            <a:ext cx="4027527" cy="217170"/>
          </a:xfrm>
          <a:prstGeom prst="rect">
            <a:avLst/>
          </a:prstGeom>
          <a:noFill/>
          <a:ln/>
        </p:spPr>
        <p:txBody>
          <a:bodyPr wrap="none" lIns="0" tIns="0" rIns="0" bIns="0" rtlCol="0" anchor="t"/>
          <a:lstStyle/>
          <a:p>
            <a:pPr marL="0" indent="0" algn="l">
              <a:lnSpc>
                <a:spcPts val="1700"/>
              </a:lnSpc>
              <a:buNone/>
            </a:pPr>
            <a:r>
              <a:rPr lang="en-US" sz="1050" b="1" dirty="0">
                <a:solidFill>
                  <a:srgbClr val="FFFFFF"/>
                </a:solidFill>
                <a:latin typeface="DM Sans" pitchFamily="34" charset="0"/>
                <a:ea typeface="DM Sans" pitchFamily="34" charset="-122"/>
                <a:cs typeface="DM Sans" pitchFamily="34" charset="-120"/>
              </a:rPr>
              <a:t>Late Days:</a:t>
            </a:r>
            <a:r>
              <a:rPr lang="en-US" sz="1050" dirty="0">
                <a:solidFill>
                  <a:srgbClr val="FFFFFF"/>
                </a:solidFill>
                <a:latin typeface="DM Sans" pitchFamily="34" charset="0"/>
                <a:ea typeface="DM Sans" pitchFamily="34" charset="-122"/>
                <a:cs typeface="DM Sans" pitchFamily="34" charset="-120"/>
              </a:rPr>
              <a:t> 15 average</a:t>
            </a:r>
            <a:endParaRPr lang="en-US" sz="1050" dirty="0"/>
          </a:p>
        </p:txBody>
      </p:sp>
      <p:sp>
        <p:nvSpPr>
          <p:cNvPr id="9" name="Text 6"/>
          <p:cNvSpPr/>
          <p:nvPr/>
        </p:nvSpPr>
        <p:spPr>
          <a:xfrm>
            <a:off x="866656" y="4544020"/>
            <a:ext cx="4027527" cy="651510"/>
          </a:xfrm>
          <a:prstGeom prst="rect">
            <a:avLst/>
          </a:prstGeom>
          <a:noFill/>
          <a:ln/>
        </p:spPr>
        <p:txBody>
          <a:bodyPr wrap="square" lIns="0" tIns="0" rIns="0" bIns="0" rtlCol="0" anchor="t"/>
          <a:lstStyle/>
          <a:p>
            <a:pPr marL="0" indent="0" algn="l">
              <a:lnSpc>
                <a:spcPts val="1700"/>
              </a:lnSpc>
              <a:buNone/>
            </a:pPr>
            <a:r>
              <a:rPr lang="en-US" sz="1050" dirty="0">
                <a:solidFill>
                  <a:srgbClr val="FFFFFF"/>
                </a:solidFill>
                <a:latin typeface="DM Sans" pitchFamily="34" charset="0"/>
                <a:ea typeface="DM Sans" pitchFamily="34" charset="-122"/>
                <a:cs typeface="DM Sans" pitchFamily="34" charset="-120"/>
              </a:rPr>
              <a:t>Dual risk profile combining quality and delivery issues requiring immediate corrective action and enhanced inspection protocols</a:t>
            </a:r>
            <a:endParaRPr lang="en-US" sz="1050" dirty="0"/>
          </a:p>
        </p:txBody>
      </p:sp>
      <p:sp>
        <p:nvSpPr>
          <p:cNvPr id="10" name="Shape 7"/>
          <p:cNvSpPr/>
          <p:nvPr/>
        </p:nvSpPr>
        <p:spPr>
          <a:xfrm>
            <a:off x="5165646" y="3506986"/>
            <a:ext cx="4298990" cy="1824276"/>
          </a:xfrm>
          <a:prstGeom prst="roundRect">
            <a:avLst>
              <a:gd name="adj" fmla="val 1116"/>
            </a:avLst>
          </a:prstGeom>
          <a:solidFill>
            <a:srgbClr val="E04F00"/>
          </a:solidFill>
          <a:ln/>
        </p:spPr>
        <p:txBody>
          <a:bodyPr/>
          <a:lstStyle/>
          <a:p>
            <a:endParaRPr lang="en-US"/>
          </a:p>
        </p:txBody>
      </p:sp>
      <p:sp>
        <p:nvSpPr>
          <p:cNvPr id="11" name="Text 8"/>
          <p:cNvSpPr/>
          <p:nvPr/>
        </p:nvSpPr>
        <p:spPr>
          <a:xfrm>
            <a:off x="5301377" y="3642717"/>
            <a:ext cx="2151221" cy="222647"/>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PT Serif" pitchFamily="34" charset="0"/>
                <a:ea typeface="PT Serif" pitchFamily="34" charset="-122"/>
                <a:cs typeface="PT Serif" pitchFamily="34" charset="-120"/>
              </a:rPr>
              <a:t>Supplier 1 – Quality Leader</a:t>
            </a:r>
            <a:endParaRPr lang="en-US" sz="1400" dirty="0"/>
          </a:p>
        </p:txBody>
      </p:sp>
      <p:sp>
        <p:nvSpPr>
          <p:cNvPr id="12" name="Text 9"/>
          <p:cNvSpPr/>
          <p:nvPr/>
        </p:nvSpPr>
        <p:spPr>
          <a:xfrm>
            <a:off x="5301377" y="3946803"/>
            <a:ext cx="4027527" cy="217170"/>
          </a:xfrm>
          <a:prstGeom prst="rect">
            <a:avLst/>
          </a:prstGeom>
          <a:noFill/>
          <a:ln/>
        </p:spPr>
        <p:txBody>
          <a:bodyPr wrap="none" lIns="0" tIns="0" rIns="0" bIns="0" rtlCol="0" anchor="t"/>
          <a:lstStyle/>
          <a:p>
            <a:pPr marL="0" indent="0" algn="l">
              <a:lnSpc>
                <a:spcPts val="1700"/>
              </a:lnSpc>
              <a:buNone/>
            </a:pPr>
            <a:r>
              <a:rPr lang="en-US" sz="1050" b="1" dirty="0">
                <a:solidFill>
                  <a:srgbClr val="FFFFFF"/>
                </a:solidFill>
                <a:latin typeface="DM Sans" pitchFamily="34" charset="0"/>
                <a:ea typeface="DM Sans" pitchFamily="34" charset="-122"/>
                <a:cs typeface="DM Sans" pitchFamily="34" charset="-120"/>
              </a:rPr>
              <a:t>Gross Margin:</a:t>
            </a:r>
            <a:r>
              <a:rPr lang="en-US" sz="1050" dirty="0">
                <a:solidFill>
                  <a:srgbClr val="FFFFFF"/>
                </a:solidFill>
                <a:latin typeface="DM Sans" pitchFamily="34" charset="0"/>
                <a:ea typeface="DM Sans" pitchFamily="34" charset="-122"/>
                <a:cs typeface="DM Sans" pitchFamily="34" charset="-120"/>
              </a:rPr>
              <a:t> $156K contribution</a:t>
            </a:r>
            <a:endParaRPr lang="en-US" sz="1050" dirty="0"/>
          </a:p>
        </p:txBody>
      </p:sp>
      <p:sp>
        <p:nvSpPr>
          <p:cNvPr id="13" name="Text 10"/>
          <p:cNvSpPr/>
          <p:nvPr/>
        </p:nvSpPr>
        <p:spPr>
          <a:xfrm>
            <a:off x="5301377" y="4245412"/>
            <a:ext cx="4027527" cy="217170"/>
          </a:xfrm>
          <a:prstGeom prst="rect">
            <a:avLst/>
          </a:prstGeom>
          <a:noFill/>
          <a:ln/>
        </p:spPr>
        <p:txBody>
          <a:bodyPr wrap="none" lIns="0" tIns="0" rIns="0" bIns="0" rtlCol="0" anchor="t"/>
          <a:lstStyle/>
          <a:p>
            <a:pPr marL="0" indent="0" algn="l">
              <a:lnSpc>
                <a:spcPts val="1700"/>
              </a:lnSpc>
              <a:buNone/>
            </a:pPr>
            <a:r>
              <a:rPr lang="en-US" sz="1050" b="1" dirty="0">
                <a:solidFill>
                  <a:srgbClr val="FFFFFF"/>
                </a:solidFill>
                <a:latin typeface="DM Sans" pitchFamily="34" charset="0"/>
                <a:ea typeface="DM Sans" pitchFamily="34" charset="-122"/>
                <a:cs typeface="DM Sans" pitchFamily="34" charset="-120"/>
              </a:rPr>
              <a:t>Challenge:</a:t>
            </a:r>
            <a:r>
              <a:rPr lang="en-US" sz="1050" dirty="0">
                <a:solidFill>
                  <a:srgbClr val="FFFFFF"/>
                </a:solidFill>
                <a:latin typeface="DM Sans" pitchFamily="34" charset="0"/>
                <a:ea typeface="DM Sans" pitchFamily="34" charset="-122"/>
                <a:cs typeface="DM Sans" pitchFamily="34" charset="-120"/>
              </a:rPr>
              <a:t> Delivery delays</a:t>
            </a:r>
            <a:endParaRPr lang="en-US" sz="1050" dirty="0"/>
          </a:p>
        </p:txBody>
      </p:sp>
      <p:sp>
        <p:nvSpPr>
          <p:cNvPr id="14" name="Text 11"/>
          <p:cNvSpPr/>
          <p:nvPr/>
        </p:nvSpPr>
        <p:spPr>
          <a:xfrm>
            <a:off x="5301377" y="4544020"/>
            <a:ext cx="4027527" cy="434340"/>
          </a:xfrm>
          <a:prstGeom prst="rect">
            <a:avLst/>
          </a:prstGeom>
          <a:noFill/>
          <a:ln/>
        </p:spPr>
        <p:txBody>
          <a:bodyPr wrap="square" lIns="0" tIns="0" rIns="0" bIns="0" rtlCol="0" anchor="t"/>
          <a:lstStyle/>
          <a:p>
            <a:pPr marL="0" indent="0" algn="l">
              <a:lnSpc>
                <a:spcPts val="1700"/>
              </a:lnSpc>
              <a:buNone/>
            </a:pPr>
            <a:r>
              <a:rPr lang="en-US" sz="1050" dirty="0">
                <a:solidFill>
                  <a:srgbClr val="FFFFFF"/>
                </a:solidFill>
                <a:latin typeface="DM Sans" pitchFamily="34" charset="0"/>
                <a:ea typeface="DM Sans" pitchFamily="34" charset="-122"/>
                <a:cs typeface="DM Sans" pitchFamily="34" charset="-120"/>
              </a:rPr>
              <a:t>Maintains strong quality standards but requires engagement on delivery reliability improvements to protect margin contribution</a:t>
            </a:r>
            <a:endParaRPr lang="en-US" sz="1050" dirty="0"/>
          </a:p>
        </p:txBody>
      </p:sp>
      <p:sp>
        <p:nvSpPr>
          <p:cNvPr id="15" name="Shape 12"/>
          <p:cNvSpPr/>
          <p:nvPr/>
        </p:nvSpPr>
        <p:spPr>
          <a:xfrm>
            <a:off x="9600367" y="3506986"/>
            <a:ext cx="4298990" cy="1824276"/>
          </a:xfrm>
          <a:prstGeom prst="roundRect">
            <a:avLst>
              <a:gd name="adj" fmla="val 1116"/>
            </a:avLst>
          </a:prstGeom>
          <a:solidFill>
            <a:srgbClr val="E04F00"/>
          </a:solidFill>
          <a:ln/>
        </p:spPr>
        <p:txBody>
          <a:bodyPr/>
          <a:lstStyle/>
          <a:p>
            <a:endParaRPr lang="en-US"/>
          </a:p>
        </p:txBody>
      </p:sp>
      <p:sp>
        <p:nvSpPr>
          <p:cNvPr id="16" name="Text 13"/>
          <p:cNvSpPr/>
          <p:nvPr/>
        </p:nvSpPr>
        <p:spPr>
          <a:xfrm>
            <a:off x="9736098" y="3642717"/>
            <a:ext cx="2107525" cy="222647"/>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PT Serif" pitchFamily="34" charset="0"/>
                <a:ea typeface="PT Serif" pitchFamily="34" charset="-122"/>
                <a:cs typeface="PT Serif" pitchFamily="34" charset="-120"/>
              </a:rPr>
              <a:t>Supplier 2 – Early Warning</a:t>
            </a:r>
            <a:endParaRPr lang="en-US" sz="1400" dirty="0"/>
          </a:p>
        </p:txBody>
      </p:sp>
      <p:sp>
        <p:nvSpPr>
          <p:cNvPr id="17" name="Text 14"/>
          <p:cNvSpPr/>
          <p:nvPr/>
        </p:nvSpPr>
        <p:spPr>
          <a:xfrm>
            <a:off x="9736098" y="3946803"/>
            <a:ext cx="4027527" cy="217170"/>
          </a:xfrm>
          <a:prstGeom prst="rect">
            <a:avLst/>
          </a:prstGeom>
          <a:noFill/>
          <a:ln/>
        </p:spPr>
        <p:txBody>
          <a:bodyPr wrap="none" lIns="0" tIns="0" rIns="0" bIns="0" rtlCol="0" anchor="t"/>
          <a:lstStyle/>
          <a:p>
            <a:pPr marL="0" indent="0" algn="l">
              <a:lnSpc>
                <a:spcPts val="1700"/>
              </a:lnSpc>
              <a:buNone/>
            </a:pPr>
            <a:r>
              <a:rPr lang="en-US" sz="1050" b="1" dirty="0">
                <a:solidFill>
                  <a:srgbClr val="FFFFFF"/>
                </a:solidFill>
                <a:latin typeface="DM Sans" pitchFamily="34" charset="0"/>
                <a:ea typeface="DM Sans" pitchFamily="34" charset="-122"/>
                <a:cs typeface="DM Sans" pitchFamily="34" charset="-120"/>
              </a:rPr>
              <a:t>Delivery:</a:t>
            </a:r>
            <a:r>
              <a:rPr lang="en-US" sz="1050" dirty="0">
                <a:solidFill>
                  <a:srgbClr val="FFFFFF"/>
                </a:solidFill>
                <a:latin typeface="DM Sans" pitchFamily="34" charset="0"/>
                <a:ea typeface="DM Sans" pitchFamily="34" charset="-122"/>
                <a:cs typeface="DM Sans" pitchFamily="34" charset="-120"/>
              </a:rPr>
              <a:t> Performing well</a:t>
            </a:r>
            <a:endParaRPr lang="en-US" sz="1050" dirty="0"/>
          </a:p>
        </p:txBody>
      </p:sp>
      <p:sp>
        <p:nvSpPr>
          <p:cNvPr id="18" name="Text 15"/>
          <p:cNvSpPr/>
          <p:nvPr/>
        </p:nvSpPr>
        <p:spPr>
          <a:xfrm>
            <a:off x="9736098" y="4245412"/>
            <a:ext cx="4027527" cy="217170"/>
          </a:xfrm>
          <a:prstGeom prst="rect">
            <a:avLst/>
          </a:prstGeom>
          <a:noFill/>
          <a:ln/>
        </p:spPr>
        <p:txBody>
          <a:bodyPr wrap="none" lIns="0" tIns="0" rIns="0" bIns="0" rtlCol="0" anchor="t"/>
          <a:lstStyle/>
          <a:p>
            <a:pPr marL="0" indent="0" algn="l">
              <a:lnSpc>
                <a:spcPts val="1700"/>
              </a:lnSpc>
              <a:buNone/>
            </a:pPr>
            <a:r>
              <a:rPr lang="en-US" sz="1050" b="1" dirty="0">
                <a:solidFill>
                  <a:srgbClr val="FFFFFF"/>
                </a:solidFill>
                <a:latin typeface="DM Sans" pitchFamily="34" charset="0"/>
                <a:ea typeface="DM Sans" pitchFamily="34" charset="-122"/>
                <a:cs typeface="DM Sans" pitchFamily="34" charset="-120"/>
              </a:rPr>
              <a:t>Quality:</a:t>
            </a:r>
            <a:r>
              <a:rPr lang="en-US" sz="1050" dirty="0">
                <a:solidFill>
                  <a:srgbClr val="FFFFFF"/>
                </a:solidFill>
                <a:latin typeface="DM Sans" pitchFamily="34" charset="0"/>
                <a:ea typeface="DM Sans" pitchFamily="34" charset="-122"/>
                <a:cs typeface="DM Sans" pitchFamily="34" charset="-120"/>
              </a:rPr>
              <a:t> Early risk signals</a:t>
            </a:r>
            <a:endParaRPr lang="en-US" sz="1050" dirty="0"/>
          </a:p>
        </p:txBody>
      </p:sp>
      <p:sp>
        <p:nvSpPr>
          <p:cNvPr id="19" name="Text 16"/>
          <p:cNvSpPr/>
          <p:nvPr/>
        </p:nvSpPr>
        <p:spPr>
          <a:xfrm>
            <a:off x="9736098" y="4544020"/>
            <a:ext cx="4027527" cy="434340"/>
          </a:xfrm>
          <a:prstGeom prst="rect">
            <a:avLst/>
          </a:prstGeom>
          <a:noFill/>
          <a:ln/>
        </p:spPr>
        <p:txBody>
          <a:bodyPr wrap="square" lIns="0" tIns="0" rIns="0" bIns="0" rtlCol="0" anchor="t"/>
          <a:lstStyle/>
          <a:p>
            <a:pPr marL="0" indent="0" algn="l">
              <a:lnSpc>
                <a:spcPts val="1700"/>
              </a:lnSpc>
              <a:buNone/>
            </a:pPr>
            <a:r>
              <a:rPr lang="en-US" sz="1050" dirty="0">
                <a:solidFill>
                  <a:srgbClr val="FFFFFF"/>
                </a:solidFill>
                <a:latin typeface="DM Sans" pitchFamily="34" charset="0"/>
                <a:ea typeface="DM Sans" pitchFamily="34" charset="-122"/>
                <a:cs typeface="DM Sans" pitchFamily="34" charset="-120"/>
              </a:rPr>
              <a:t>Proactive monitoring needed to prevent quality escalation while maintaining strong delivery performance</a:t>
            </a:r>
            <a:endParaRPr lang="en-US" sz="1050" dirty="0"/>
          </a:p>
        </p:txBody>
      </p:sp>
      <p:pic>
        <p:nvPicPr>
          <p:cNvPr id="20" name="Image 1" descr="preencoded.png"/>
          <p:cNvPicPr>
            <a:picLocks noChangeAspect="1"/>
          </p:cNvPicPr>
          <p:nvPr/>
        </p:nvPicPr>
        <p:blipFill>
          <a:blip r:embed="rId3"/>
          <a:stretch>
            <a:fillRect/>
          </a:stretch>
        </p:blipFill>
        <p:spPr>
          <a:xfrm>
            <a:off x="730925" y="5636538"/>
            <a:ext cx="3622715" cy="1870115"/>
          </a:xfrm>
          <a:prstGeom prst="rect">
            <a:avLst/>
          </a:prstGeom>
        </p:spPr>
      </p:pic>
      <p:pic>
        <p:nvPicPr>
          <p:cNvPr id="21" name="Image 2" descr="preencoded.png"/>
          <p:cNvPicPr>
            <a:picLocks noChangeAspect="1"/>
          </p:cNvPicPr>
          <p:nvPr/>
        </p:nvPicPr>
        <p:blipFill>
          <a:blip r:embed="rId4"/>
          <a:stretch>
            <a:fillRect/>
          </a:stretch>
        </p:blipFill>
        <p:spPr>
          <a:xfrm>
            <a:off x="7488317" y="5636538"/>
            <a:ext cx="144185" cy="144185"/>
          </a:xfrm>
          <a:prstGeom prst="rect">
            <a:avLst/>
          </a:prstGeom>
        </p:spPr>
      </p:pic>
      <p:pic>
        <p:nvPicPr>
          <p:cNvPr id="23" name="Picture 22">
            <a:extLst>
              <a:ext uri="{FF2B5EF4-FFF2-40B4-BE49-F238E27FC236}">
                <a16:creationId xmlns:a16="http://schemas.microsoft.com/office/drawing/2014/main" id="{0F1D44EA-8A48-97F3-D953-6945A3815E72}"/>
              </a:ext>
            </a:extLst>
          </p:cNvPr>
          <p:cNvPicPr>
            <a:picLocks noChangeAspect="1"/>
          </p:cNvPicPr>
          <p:nvPr/>
        </p:nvPicPr>
        <p:blipFill>
          <a:blip r:embed="rId5"/>
          <a:stretch>
            <a:fillRect/>
          </a:stretch>
        </p:blipFill>
        <p:spPr>
          <a:xfrm>
            <a:off x="730925" y="76081"/>
            <a:ext cx="5083135" cy="2160171"/>
          </a:xfrm>
          <a:prstGeom prst="rect">
            <a:avLst/>
          </a:prstGeom>
        </p:spPr>
      </p:pic>
      <p:sp>
        <p:nvSpPr>
          <p:cNvPr id="24" name="Rectangle 23">
            <a:extLst>
              <a:ext uri="{FF2B5EF4-FFF2-40B4-BE49-F238E27FC236}">
                <a16:creationId xmlns:a16="http://schemas.microsoft.com/office/drawing/2014/main" id="{3C670DDB-E2BA-472C-DAE8-D1233F5E7893}"/>
              </a:ext>
            </a:extLst>
          </p:cNvPr>
          <p:cNvSpPr/>
          <p:nvPr/>
        </p:nvSpPr>
        <p:spPr>
          <a:xfrm>
            <a:off x="12443460" y="7581900"/>
            <a:ext cx="2133600" cy="591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808315"/>
            <a:ext cx="4743450" cy="1989892"/>
          </a:xfrm>
          <a:prstGeom prst="rect">
            <a:avLst/>
          </a:prstGeom>
        </p:spPr>
      </p:pic>
      <p:sp>
        <p:nvSpPr>
          <p:cNvPr id="3" name="Text 0"/>
          <p:cNvSpPr/>
          <p:nvPr/>
        </p:nvSpPr>
        <p:spPr>
          <a:xfrm>
            <a:off x="793790" y="3040499"/>
            <a:ext cx="10931366" cy="516850"/>
          </a:xfrm>
          <a:prstGeom prst="rect">
            <a:avLst/>
          </a:prstGeom>
          <a:noFill/>
          <a:ln/>
        </p:spPr>
        <p:txBody>
          <a:bodyPr wrap="none" lIns="0" tIns="0" rIns="0" bIns="0" rtlCol="0" anchor="t"/>
          <a:lstStyle/>
          <a:p>
            <a:pPr marL="0" indent="0" algn="l">
              <a:lnSpc>
                <a:spcPts val="4100"/>
              </a:lnSpc>
              <a:buNone/>
            </a:pPr>
            <a:r>
              <a:rPr lang="en-US" sz="3250" dirty="0">
                <a:solidFill>
                  <a:srgbClr val="020202"/>
                </a:solidFill>
                <a:latin typeface="PT Serif" pitchFamily="34" charset="0"/>
                <a:ea typeface="PT Serif" pitchFamily="34" charset="-122"/>
                <a:cs typeface="PT Serif" pitchFamily="34" charset="-120"/>
              </a:rPr>
              <a:t>Recommendations: Improve Delivery and SLA Performance</a:t>
            </a:r>
            <a:endParaRPr lang="en-US" sz="3250" dirty="0"/>
          </a:p>
        </p:txBody>
      </p:sp>
      <p:sp>
        <p:nvSpPr>
          <p:cNvPr id="4" name="Shape 1"/>
          <p:cNvSpPr/>
          <p:nvPr/>
        </p:nvSpPr>
        <p:spPr>
          <a:xfrm>
            <a:off x="793790" y="3795474"/>
            <a:ext cx="1620798" cy="298490"/>
          </a:xfrm>
          <a:prstGeom prst="roundRect">
            <a:avLst>
              <a:gd name="adj" fmla="val 6383"/>
            </a:avLst>
          </a:prstGeom>
          <a:solidFill>
            <a:srgbClr val="FFDECC"/>
          </a:solidFill>
          <a:ln/>
        </p:spPr>
        <p:txBody>
          <a:bodyPr/>
          <a:lstStyle/>
          <a:p>
            <a:endParaRPr lang="en-US"/>
          </a:p>
        </p:txBody>
      </p:sp>
      <p:sp>
        <p:nvSpPr>
          <p:cNvPr id="5" name="Text 2"/>
          <p:cNvSpPr/>
          <p:nvPr/>
        </p:nvSpPr>
        <p:spPr>
          <a:xfrm>
            <a:off x="889040" y="3843099"/>
            <a:ext cx="1430298" cy="203240"/>
          </a:xfrm>
          <a:prstGeom prst="rect">
            <a:avLst/>
          </a:prstGeom>
          <a:noFill/>
          <a:ln/>
        </p:spPr>
        <p:txBody>
          <a:bodyPr wrap="none" lIns="0" tIns="0" rIns="0" bIns="0" rtlCol="0" anchor="t"/>
          <a:lstStyle/>
          <a:p>
            <a:pPr marL="0" indent="0" algn="l">
              <a:lnSpc>
                <a:spcPts val="1600"/>
              </a:lnSpc>
              <a:buNone/>
            </a:pPr>
            <a:r>
              <a:rPr lang="en-US" sz="1000" dirty="0">
                <a:solidFill>
                  <a:srgbClr val="383838"/>
                </a:solidFill>
                <a:latin typeface="DM Sans" pitchFamily="34" charset="0"/>
                <a:ea typeface="DM Sans" pitchFamily="34" charset="-122"/>
                <a:cs typeface="DM Sans" pitchFamily="34" charset="-120"/>
              </a:rPr>
              <a:t>DELIVERY OPTIMIZATION</a:t>
            </a:r>
            <a:endParaRPr lang="en-US" sz="1000" dirty="0"/>
          </a:p>
        </p:txBody>
      </p:sp>
      <p:sp>
        <p:nvSpPr>
          <p:cNvPr id="6" name="Text 3"/>
          <p:cNvSpPr/>
          <p:nvPr/>
        </p:nvSpPr>
        <p:spPr>
          <a:xfrm>
            <a:off x="793790" y="4272558"/>
            <a:ext cx="158710" cy="198358"/>
          </a:xfrm>
          <a:prstGeom prst="rect">
            <a:avLst/>
          </a:prstGeom>
          <a:noFill/>
          <a:ln/>
        </p:spPr>
        <p:txBody>
          <a:bodyPr wrap="none" lIns="0" tIns="0" rIns="0" bIns="0" rtlCol="0" anchor="t"/>
          <a:lstStyle/>
          <a:p>
            <a:pPr marL="0" indent="0" algn="l">
              <a:lnSpc>
                <a:spcPts val="2000"/>
              </a:lnSpc>
              <a:buNone/>
            </a:pPr>
            <a:r>
              <a:rPr lang="en-US" sz="1250" dirty="0">
                <a:solidFill>
                  <a:srgbClr val="383838"/>
                </a:solidFill>
                <a:latin typeface="PT Serif Light" pitchFamily="34" charset="0"/>
                <a:ea typeface="PT Serif Light" pitchFamily="34" charset="-122"/>
                <a:cs typeface="PT Serif Light" pitchFamily="34" charset="-120"/>
              </a:rPr>
              <a:t>01</a:t>
            </a:r>
            <a:endParaRPr lang="en-US" sz="1250" dirty="0"/>
          </a:p>
        </p:txBody>
      </p:sp>
      <p:sp>
        <p:nvSpPr>
          <p:cNvPr id="7" name="Shape 4"/>
          <p:cNvSpPr/>
          <p:nvPr/>
        </p:nvSpPr>
        <p:spPr>
          <a:xfrm>
            <a:off x="793790" y="4519374"/>
            <a:ext cx="4241721" cy="22860"/>
          </a:xfrm>
          <a:prstGeom prst="rect">
            <a:avLst/>
          </a:prstGeom>
          <a:solidFill>
            <a:srgbClr val="E04F00"/>
          </a:solidFill>
          <a:ln/>
        </p:spPr>
        <p:txBody>
          <a:bodyPr/>
          <a:lstStyle/>
          <a:p>
            <a:endParaRPr lang="en-US"/>
          </a:p>
        </p:txBody>
      </p:sp>
      <p:sp>
        <p:nvSpPr>
          <p:cNvPr id="8" name="Text 5"/>
          <p:cNvSpPr/>
          <p:nvPr/>
        </p:nvSpPr>
        <p:spPr>
          <a:xfrm>
            <a:off x="793790" y="4644390"/>
            <a:ext cx="2388751" cy="260390"/>
          </a:xfrm>
          <a:prstGeom prst="rect">
            <a:avLst/>
          </a:prstGeom>
          <a:noFill/>
          <a:ln/>
        </p:spPr>
        <p:txBody>
          <a:bodyPr wrap="none" lIns="0" tIns="0" rIns="0" bIns="0" rtlCol="0" anchor="t"/>
          <a:lstStyle/>
          <a:p>
            <a:pPr marL="0" indent="0" algn="l">
              <a:lnSpc>
                <a:spcPts val="2050"/>
              </a:lnSpc>
              <a:buNone/>
            </a:pPr>
            <a:r>
              <a:rPr lang="en-US" sz="1600" dirty="0">
                <a:solidFill>
                  <a:srgbClr val="383838"/>
                </a:solidFill>
                <a:latin typeface="PT Serif" pitchFamily="34" charset="0"/>
                <a:ea typeface="PT Serif" pitchFamily="34" charset="-122"/>
                <a:cs typeface="PT Serif" pitchFamily="34" charset="-120"/>
              </a:rPr>
              <a:t>Rebalance Carrier Volume</a:t>
            </a:r>
            <a:endParaRPr lang="en-US" sz="1600" dirty="0"/>
          </a:p>
        </p:txBody>
      </p:sp>
      <p:sp>
        <p:nvSpPr>
          <p:cNvPr id="9" name="Text 6"/>
          <p:cNvSpPr/>
          <p:nvPr/>
        </p:nvSpPr>
        <p:spPr>
          <a:xfrm>
            <a:off x="793790" y="5000030"/>
            <a:ext cx="4241721" cy="762238"/>
          </a:xfrm>
          <a:prstGeom prst="rect">
            <a:avLst/>
          </a:prstGeom>
          <a:noFill/>
          <a:ln/>
        </p:spPr>
        <p:txBody>
          <a:bodyPr wrap="square" lIns="0" tIns="0" rIns="0" bIns="0" rtlCol="0" anchor="t"/>
          <a:lstStyle/>
          <a:p>
            <a:pPr marL="0" indent="0" algn="l">
              <a:lnSpc>
                <a:spcPts val="2000"/>
              </a:lnSpc>
              <a:buNone/>
            </a:pPr>
            <a:r>
              <a:rPr lang="en-US" sz="1250" dirty="0">
                <a:solidFill>
                  <a:srgbClr val="383838"/>
                </a:solidFill>
                <a:latin typeface="DM Sans" pitchFamily="34" charset="0"/>
                <a:ea typeface="DM Sans" pitchFamily="34" charset="-122"/>
                <a:cs typeface="DM Sans" pitchFamily="34" charset="-120"/>
              </a:rPr>
              <a:t>Shift volume away from Carrier B for Air and Road shipments where late rates exceed 35%. Target 20–30% volume reduction over next quarter.</a:t>
            </a:r>
            <a:endParaRPr lang="en-US" sz="1250" dirty="0"/>
          </a:p>
        </p:txBody>
      </p:sp>
      <p:sp>
        <p:nvSpPr>
          <p:cNvPr id="10" name="Text 7"/>
          <p:cNvSpPr/>
          <p:nvPr/>
        </p:nvSpPr>
        <p:spPr>
          <a:xfrm>
            <a:off x="5194221" y="4272558"/>
            <a:ext cx="158710" cy="198358"/>
          </a:xfrm>
          <a:prstGeom prst="rect">
            <a:avLst/>
          </a:prstGeom>
          <a:noFill/>
          <a:ln/>
        </p:spPr>
        <p:txBody>
          <a:bodyPr wrap="none" lIns="0" tIns="0" rIns="0" bIns="0" rtlCol="0" anchor="t"/>
          <a:lstStyle/>
          <a:p>
            <a:pPr marL="0" indent="0" algn="l">
              <a:lnSpc>
                <a:spcPts val="2000"/>
              </a:lnSpc>
              <a:buNone/>
            </a:pPr>
            <a:r>
              <a:rPr lang="en-US" sz="1250" dirty="0">
                <a:solidFill>
                  <a:srgbClr val="383838"/>
                </a:solidFill>
                <a:latin typeface="PT Serif Light" pitchFamily="34" charset="0"/>
                <a:ea typeface="PT Serif Light" pitchFamily="34" charset="-122"/>
                <a:cs typeface="PT Serif Light" pitchFamily="34" charset="-120"/>
              </a:rPr>
              <a:t>02</a:t>
            </a:r>
            <a:endParaRPr lang="en-US" sz="1250" dirty="0"/>
          </a:p>
        </p:txBody>
      </p:sp>
      <p:sp>
        <p:nvSpPr>
          <p:cNvPr id="11" name="Shape 8"/>
          <p:cNvSpPr/>
          <p:nvPr/>
        </p:nvSpPr>
        <p:spPr>
          <a:xfrm>
            <a:off x="5194221" y="4519374"/>
            <a:ext cx="4241840" cy="22860"/>
          </a:xfrm>
          <a:prstGeom prst="rect">
            <a:avLst/>
          </a:prstGeom>
          <a:solidFill>
            <a:srgbClr val="E04F00"/>
          </a:solidFill>
          <a:ln/>
        </p:spPr>
        <p:txBody>
          <a:bodyPr/>
          <a:lstStyle/>
          <a:p>
            <a:endParaRPr lang="en-US"/>
          </a:p>
        </p:txBody>
      </p:sp>
      <p:sp>
        <p:nvSpPr>
          <p:cNvPr id="12" name="Text 9"/>
          <p:cNvSpPr/>
          <p:nvPr/>
        </p:nvSpPr>
        <p:spPr>
          <a:xfrm>
            <a:off x="5194221" y="4644390"/>
            <a:ext cx="2674025" cy="260390"/>
          </a:xfrm>
          <a:prstGeom prst="rect">
            <a:avLst/>
          </a:prstGeom>
          <a:noFill/>
          <a:ln/>
        </p:spPr>
        <p:txBody>
          <a:bodyPr wrap="none" lIns="0" tIns="0" rIns="0" bIns="0" rtlCol="0" anchor="t"/>
          <a:lstStyle/>
          <a:p>
            <a:pPr marL="0" indent="0" algn="l">
              <a:lnSpc>
                <a:spcPts val="2050"/>
              </a:lnSpc>
              <a:buNone/>
            </a:pPr>
            <a:r>
              <a:rPr lang="en-US" sz="1600" dirty="0">
                <a:solidFill>
                  <a:srgbClr val="383838"/>
                </a:solidFill>
                <a:latin typeface="PT Serif" pitchFamily="34" charset="0"/>
                <a:ea typeface="PT Serif" pitchFamily="34" charset="-122"/>
                <a:cs typeface="PT Serif" pitchFamily="34" charset="-120"/>
              </a:rPr>
              <a:t>Prioritize Route A Protection</a:t>
            </a:r>
            <a:endParaRPr lang="en-US" sz="1600" dirty="0"/>
          </a:p>
        </p:txBody>
      </p:sp>
      <p:sp>
        <p:nvSpPr>
          <p:cNvPr id="13" name="Text 10"/>
          <p:cNvSpPr/>
          <p:nvPr/>
        </p:nvSpPr>
        <p:spPr>
          <a:xfrm>
            <a:off x="5194221" y="5000030"/>
            <a:ext cx="4241840" cy="762238"/>
          </a:xfrm>
          <a:prstGeom prst="rect">
            <a:avLst/>
          </a:prstGeom>
          <a:noFill/>
          <a:ln/>
        </p:spPr>
        <p:txBody>
          <a:bodyPr wrap="square" lIns="0" tIns="0" rIns="0" bIns="0" rtlCol="0" anchor="t"/>
          <a:lstStyle/>
          <a:p>
            <a:pPr marL="0" indent="0" algn="l">
              <a:lnSpc>
                <a:spcPts val="2000"/>
              </a:lnSpc>
              <a:buNone/>
            </a:pPr>
            <a:r>
              <a:rPr lang="en-US" sz="1250" dirty="0">
                <a:solidFill>
                  <a:srgbClr val="383838"/>
                </a:solidFill>
                <a:latin typeface="DM Sans" pitchFamily="34" charset="0"/>
                <a:ea typeface="DM Sans" pitchFamily="34" charset="-122"/>
                <a:cs typeface="DM Sans" pitchFamily="34" charset="-120"/>
              </a:rPr>
              <a:t>Allocate highest-performing carrier–mode combinations exclusively to Route A shipments to protect our most profitable route from delivery risk.</a:t>
            </a:r>
            <a:endParaRPr lang="en-US" sz="1250" dirty="0"/>
          </a:p>
        </p:txBody>
      </p:sp>
      <p:sp>
        <p:nvSpPr>
          <p:cNvPr id="14" name="Text 11"/>
          <p:cNvSpPr/>
          <p:nvPr/>
        </p:nvSpPr>
        <p:spPr>
          <a:xfrm>
            <a:off x="9594771" y="4272558"/>
            <a:ext cx="158710" cy="198358"/>
          </a:xfrm>
          <a:prstGeom prst="rect">
            <a:avLst/>
          </a:prstGeom>
          <a:noFill/>
          <a:ln/>
        </p:spPr>
        <p:txBody>
          <a:bodyPr wrap="none" lIns="0" tIns="0" rIns="0" bIns="0" rtlCol="0" anchor="t"/>
          <a:lstStyle/>
          <a:p>
            <a:pPr marL="0" indent="0" algn="l">
              <a:lnSpc>
                <a:spcPts val="2000"/>
              </a:lnSpc>
              <a:buNone/>
            </a:pPr>
            <a:r>
              <a:rPr lang="en-US" sz="1250" dirty="0">
                <a:solidFill>
                  <a:srgbClr val="383838"/>
                </a:solidFill>
                <a:latin typeface="PT Serif Light" pitchFamily="34" charset="0"/>
                <a:ea typeface="PT Serif Light" pitchFamily="34" charset="-122"/>
                <a:cs typeface="PT Serif Light" pitchFamily="34" charset="-120"/>
              </a:rPr>
              <a:t>03</a:t>
            </a:r>
            <a:endParaRPr lang="en-US" sz="1250" dirty="0"/>
          </a:p>
        </p:txBody>
      </p:sp>
      <p:sp>
        <p:nvSpPr>
          <p:cNvPr id="15" name="Shape 12"/>
          <p:cNvSpPr/>
          <p:nvPr/>
        </p:nvSpPr>
        <p:spPr>
          <a:xfrm>
            <a:off x="9594771" y="4519374"/>
            <a:ext cx="4241721" cy="22860"/>
          </a:xfrm>
          <a:prstGeom prst="rect">
            <a:avLst/>
          </a:prstGeom>
          <a:solidFill>
            <a:srgbClr val="E04F00"/>
          </a:solidFill>
          <a:ln/>
        </p:spPr>
        <p:txBody>
          <a:bodyPr/>
          <a:lstStyle/>
          <a:p>
            <a:endParaRPr lang="en-US"/>
          </a:p>
        </p:txBody>
      </p:sp>
      <p:sp>
        <p:nvSpPr>
          <p:cNvPr id="16" name="Text 13"/>
          <p:cNvSpPr/>
          <p:nvPr/>
        </p:nvSpPr>
        <p:spPr>
          <a:xfrm>
            <a:off x="9594771" y="4644390"/>
            <a:ext cx="2481858" cy="260390"/>
          </a:xfrm>
          <a:prstGeom prst="rect">
            <a:avLst/>
          </a:prstGeom>
          <a:noFill/>
          <a:ln/>
        </p:spPr>
        <p:txBody>
          <a:bodyPr wrap="none" lIns="0" tIns="0" rIns="0" bIns="0" rtlCol="0" anchor="t"/>
          <a:lstStyle/>
          <a:p>
            <a:pPr marL="0" indent="0" algn="l">
              <a:lnSpc>
                <a:spcPts val="2050"/>
              </a:lnSpc>
              <a:buNone/>
            </a:pPr>
            <a:r>
              <a:rPr lang="en-US" sz="1600" dirty="0">
                <a:solidFill>
                  <a:srgbClr val="383838"/>
                </a:solidFill>
                <a:latin typeface="PT Serif" pitchFamily="34" charset="0"/>
                <a:ea typeface="PT Serif" pitchFamily="34" charset="-122"/>
                <a:cs typeface="PT Serif" pitchFamily="34" charset="-120"/>
              </a:rPr>
              <a:t>Implement SLA Scorecards</a:t>
            </a:r>
            <a:endParaRPr lang="en-US" sz="1600" dirty="0"/>
          </a:p>
        </p:txBody>
      </p:sp>
      <p:sp>
        <p:nvSpPr>
          <p:cNvPr id="17" name="Text 14"/>
          <p:cNvSpPr/>
          <p:nvPr/>
        </p:nvSpPr>
        <p:spPr>
          <a:xfrm>
            <a:off x="9594771" y="5000030"/>
            <a:ext cx="4241721" cy="762238"/>
          </a:xfrm>
          <a:prstGeom prst="rect">
            <a:avLst/>
          </a:prstGeom>
          <a:noFill/>
          <a:ln/>
        </p:spPr>
        <p:txBody>
          <a:bodyPr wrap="square" lIns="0" tIns="0" rIns="0" bIns="0" rtlCol="0" anchor="t"/>
          <a:lstStyle/>
          <a:p>
            <a:pPr marL="0" indent="0" algn="l">
              <a:lnSpc>
                <a:spcPts val="2000"/>
              </a:lnSpc>
              <a:buNone/>
            </a:pPr>
            <a:r>
              <a:rPr lang="en-US" sz="1250" dirty="0">
                <a:solidFill>
                  <a:srgbClr val="383838"/>
                </a:solidFill>
                <a:latin typeface="DM Sans" pitchFamily="34" charset="0"/>
                <a:ea typeface="DM Sans" pitchFamily="34" charset="-122"/>
                <a:cs typeface="DM Sans" pitchFamily="34" charset="-120"/>
              </a:rPr>
              <a:t>Deploy carrier-level performance dashboards tracking late percentage and delay severity, with monthly executive reviews and quarterly contract adjustments.</a:t>
            </a:r>
            <a:endParaRPr lang="en-US" sz="1250" dirty="0"/>
          </a:p>
        </p:txBody>
      </p:sp>
      <p:sp>
        <p:nvSpPr>
          <p:cNvPr id="18" name="Shape 15"/>
          <p:cNvSpPr/>
          <p:nvPr/>
        </p:nvSpPr>
        <p:spPr>
          <a:xfrm>
            <a:off x="793790" y="6059924"/>
            <a:ext cx="13042821" cy="928687"/>
          </a:xfrm>
          <a:prstGeom prst="roundRect">
            <a:avLst>
              <a:gd name="adj" fmla="val 2565"/>
            </a:avLst>
          </a:prstGeom>
          <a:solidFill>
            <a:srgbClr val="FFCDB3"/>
          </a:solidFill>
          <a:ln/>
        </p:spPr>
        <p:txBody>
          <a:bodyPr/>
          <a:lstStyle/>
          <a:p>
            <a:endParaRPr lang="en-US"/>
          </a:p>
        </p:txBody>
      </p:sp>
      <p:pic>
        <p:nvPicPr>
          <p:cNvPr id="19" name="Image 1" descr="preencoded.png"/>
          <p:cNvPicPr>
            <a:picLocks noChangeAspect="1"/>
          </p:cNvPicPr>
          <p:nvPr/>
        </p:nvPicPr>
        <p:blipFill>
          <a:blip r:embed="rId4"/>
          <a:stretch>
            <a:fillRect/>
          </a:stretch>
        </p:blipFill>
        <p:spPr>
          <a:xfrm>
            <a:off x="952500" y="6302216"/>
            <a:ext cx="198358" cy="158710"/>
          </a:xfrm>
          <a:prstGeom prst="rect">
            <a:avLst/>
          </a:prstGeom>
        </p:spPr>
      </p:pic>
      <p:sp>
        <p:nvSpPr>
          <p:cNvPr id="20" name="Text 16"/>
          <p:cNvSpPr/>
          <p:nvPr/>
        </p:nvSpPr>
        <p:spPr>
          <a:xfrm>
            <a:off x="1309568" y="6258282"/>
            <a:ext cx="12368332" cy="508159"/>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latin typeface="DM Sans" pitchFamily="34" charset="0"/>
                <a:ea typeface="DM Sans" pitchFamily="34" charset="-122"/>
                <a:cs typeface="DM Sans" pitchFamily="34" charset="-120"/>
              </a:rPr>
              <a:t>These three initiatives form an integrated delivery improvement strategy addressing both immediate tactical adjustments and longer-term performance management capabilities. Implementation can begin immediately with existing systems and data.</a:t>
            </a:r>
            <a:endParaRPr lang="en-US" sz="1250" dirty="0"/>
          </a:p>
        </p:txBody>
      </p:sp>
      <p:sp>
        <p:nvSpPr>
          <p:cNvPr id="21" name="Text 17"/>
          <p:cNvSpPr/>
          <p:nvPr/>
        </p:nvSpPr>
        <p:spPr>
          <a:xfrm>
            <a:off x="793790" y="7167205"/>
            <a:ext cx="13042821" cy="254079"/>
          </a:xfrm>
          <a:prstGeom prst="rect">
            <a:avLst/>
          </a:prstGeom>
          <a:noFill/>
          <a:ln/>
        </p:spPr>
        <p:txBody>
          <a:bodyPr wrap="none" lIns="0" tIns="0" rIns="0" bIns="0" rtlCol="0" anchor="t"/>
          <a:lstStyle/>
          <a:p>
            <a:pPr marL="0" indent="0" algn="l">
              <a:lnSpc>
                <a:spcPts val="2000"/>
              </a:lnSpc>
              <a:buNone/>
            </a:pPr>
            <a:r>
              <a:rPr lang="en-US" sz="1250" b="1" dirty="0">
                <a:solidFill>
                  <a:srgbClr val="383838"/>
                </a:solidFill>
                <a:latin typeface="DM Sans" pitchFamily="34" charset="0"/>
                <a:ea typeface="DM Sans" pitchFamily="34" charset="-122"/>
                <a:cs typeface="DM Sans" pitchFamily="34" charset="-120"/>
              </a:rPr>
              <a:t>Expected Impact:</a:t>
            </a:r>
            <a:r>
              <a:rPr lang="en-US" sz="1250" dirty="0">
                <a:solidFill>
                  <a:srgbClr val="383838"/>
                </a:solidFill>
                <a:latin typeface="DM Sans" pitchFamily="34" charset="0"/>
                <a:ea typeface="DM Sans" pitchFamily="34" charset="-122"/>
                <a:cs typeface="DM Sans" pitchFamily="34" charset="-120"/>
              </a:rPr>
              <a:t> Estimated </a:t>
            </a:r>
            <a:r>
              <a:rPr lang="en-US" sz="1250" dirty="0">
                <a:solidFill>
                  <a:srgbClr val="E04F00"/>
                </a:solidFill>
                <a:latin typeface="DM Sans" pitchFamily="34" charset="0"/>
                <a:ea typeface="DM Sans" pitchFamily="34" charset="-122"/>
                <a:cs typeface="DM Sans" pitchFamily="34" charset="-120"/>
              </a:rPr>
              <a:t>8–12% improvement in on-time delivery.</a:t>
            </a:r>
            <a:r>
              <a:rPr lang="en-US" sz="1250" dirty="0">
                <a:solidFill>
                  <a:srgbClr val="383838"/>
                </a:solidFill>
                <a:latin typeface="DM Sans" pitchFamily="34" charset="0"/>
                <a:ea typeface="DM Sans" pitchFamily="34" charset="-122"/>
                <a:cs typeface="DM Sans" pitchFamily="34" charset="-120"/>
              </a:rPr>
              <a:t> Reduced customer escalation and expedited shipping costs.</a:t>
            </a:r>
            <a:endParaRPr lang="en-US" sz="1250" dirty="0"/>
          </a:p>
        </p:txBody>
      </p:sp>
      <p:sp>
        <p:nvSpPr>
          <p:cNvPr id="22" name="Rectangle 21">
            <a:extLst>
              <a:ext uri="{FF2B5EF4-FFF2-40B4-BE49-F238E27FC236}">
                <a16:creationId xmlns:a16="http://schemas.microsoft.com/office/drawing/2014/main" id="{6DABCCFE-B137-2634-5E4F-55C8ADB24A9A}"/>
              </a:ext>
            </a:extLst>
          </p:cNvPr>
          <p:cNvSpPr/>
          <p:nvPr/>
        </p:nvSpPr>
        <p:spPr>
          <a:xfrm>
            <a:off x="12443460" y="7581900"/>
            <a:ext cx="2133600" cy="591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6276618" y="620792"/>
            <a:ext cx="7563564" cy="963216"/>
          </a:xfrm>
          <a:prstGeom prst="rect">
            <a:avLst/>
          </a:prstGeom>
          <a:noFill/>
          <a:ln/>
        </p:spPr>
        <p:txBody>
          <a:bodyPr wrap="square" lIns="0" tIns="0" rIns="0" bIns="0" rtlCol="0" anchor="t"/>
          <a:lstStyle/>
          <a:p>
            <a:pPr marL="0" indent="0" algn="l">
              <a:lnSpc>
                <a:spcPts val="3750"/>
              </a:lnSpc>
              <a:buNone/>
            </a:pPr>
            <a:r>
              <a:rPr lang="en-US" sz="3000" dirty="0">
                <a:solidFill>
                  <a:srgbClr val="020202"/>
                </a:solidFill>
                <a:latin typeface="PT Serif" pitchFamily="34" charset="0"/>
                <a:ea typeface="PT Serif" pitchFamily="34" charset="-122"/>
                <a:cs typeface="PT Serif" pitchFamily="34" charset="-120"/>
              </a:rPr>
              <a:t>Recommendations: Optimize Inventory and Working Capital</a:t>
            </a:r>
            <a:endParaRPr lang="en-US" sz="3000" dirty="0"/>
          </a:p>
        </p:txBody>
      </p:sp>
      <p:sp>
        <p:nvSpPr>
          <p:cNvPr id="4" name="Text 1"/>
          <p:cNvSpPr/>
          <p:nvPr/>
        </p:nvSpPr>
        <p:spPr>
          <a:xfrm>
            <a:off x="6276618" y="1804035"/>
            <a:ext cx="7563564" cy="704374"/>
          </a:xfrm>
          <a:prstGeom prst="rect">
            <a:avLst/>
          </a:prstGeom>
          <a:noFill/>
          <a:ln/>
        </p:spPr>
        <p:txBody>
          <a:bodyPr wrap="square" lIns="0" tIns="0" rIns="0" bIns="0" rtlCol="0" anchor="t"/>
          <a:lstStyle/>
          <a:p>
            <a:pPr marL="0" indent="0" algn="l">
              <a:lnSpc>
                <a:spcPts val="1800"/>
              </a:lnSpc>
              <a:buNone/>
            </a:pPr>
            <a:r>
              <a:rPr lang="en-US" sz="1150" dirty="0">
                <a:solidFill>
                  <a:srgbClr val="383838"/>
                </a:solidFill>
                <a:latin typeface="DM Sans" pitchFamily="34" charset="0"/>
                <a:ea typeface="DM Sans" pitchFamily="34" charset="-122"/>
                <a:cs typeface="DM Sans" pitchFamily="34" charset="-120"/>
              </a:rPr>
              <a:t>Working capital optimization represents immediate financial benefit without requiring revenue growth or cost reduction. By right-sizing inventory to demand patterns, we unlock capital while improving operational efficiency and reducing obsolescence risk.</a:t>
            </a:r>
            <a:endParaRPr lang="en-US" sz="1150" dirty="0"/>
          </a:p>
        </p:txBody>
      </p:sp>
      <p:pic>
        <p:nvPicPr>
          <p:cNvPr id="5" name="Image 1" descr="preencoded.png"/>
          <p:cNvPicPr>
            <a:picLocks noChangeAspect="1"/>
          </p:cNvPicPr>
          <p:nvPr/>
        </p:nvPicPr>
        <p:blipFill>
          <a:blip r:embed="rId3"/>
          <a:stretch>
            <a:fillRect/>
          </a:stretch>
        </p:blipFill>
        <p:spPr>
          <a:xfrm>
            <a:off x="6276618" y="2673429"/>
            <a:ext cx="733782" cy="1091684"/>
          </a:xfrm>
          <a:prstGeom prst="rect">
            <a:avLst/>
          </a:prstGeom>
        </p:spPr>
      </p:pic>
      <p:sp>
        <p:nvSpPr>
          <p:cNvPr id="6" name="Text 2"/>
          <p:cNvSpPr/>
          <p:nvPr/>
        </p:nvSpPr>
        <p:spPr>
          <a:xfrm>
            <a:off x="7157085" y="2820114"/>
            <a:ext cx="2424351" cy="240744"/>
          </a:xfrm>
          <a:prstGeom prst="rect">
            <a:avLst/>
          </a:prstGeom>
          <a:noFill/>
          <a:ln/>
        </p:spPr>
        <p:txBody>
          <a:bodyPr wrap="none" lIns="0" tIns="0" rIns="0" bIns="0" rtlCol="0" anchor="t"/>
          <a:lstStyle/>
          <a:p>
            <a:pPr marL="0" indent="0" algn="l">
              <a:lnSpc>
                <a:spcPts val="1850"/>
              </a:lnSpc>
              <a:buNone/>
            </a:pPr>
            <a:r>
              <a:rPr lang="en-US" sz="1500" dirty="0">
                <a:solidFill>
                  <a:srgbClr val="383838"/>
                </a:solidFill>
                <a:latin typeface="PT Serif" pitchFamily="34" charset="0"/>
                <a:ea typeface="PT Serif" pitchFamily="34" charset="-122"/>
                <a:cs typeface="PT Serif" pitchFamily="34" charset="-120"/>
              </a:rPr>
              <a:t>Reduce Cosmetics Inventory</a:t>
            </a:r>
            <a:endParaRPr lang="en-US" sz="1500" dirty="0"/>
          </a:p>
        </p:txBody>
      </p:sp>
      <p:sp>
        <p:nvSpPr>
          <p:cNvPr id="7" name="Text 3"/>
          <p:cNvSpPr/>
          <p:nvPr/>
        </p:nvSpPr>
        <p:spPr>
          <a:xfrm>
            <a:off x="7157085" y="3148846"/>
            <a:ext cx="6683097" cy="469582"/>
          </a:xfrm>
          <a:prstGeom prst="rect">
            <a:avLst/>
          </a:prstGeom>
          <a:noFill/>
          <a:ln/>
        </p:spPr>
        <p:txBody>
          <a:bodyPr wrap="square" lIns="0" tIns="0" rIns="0" bIns="0" rtlCol="0" anchor="t"/>
          <a:lstStyle/>
          <a:p>
            <a:pPr marL="0" indent="0" algn="l">
              <a:lnSpc>
                <a:spcPts val="1800"/>
              </a:lnSpc>
              <a:buNone/>
            </a:pPr>
            <a:r>
              <a:rPr lang="en-US" sz="1150" dirty="0">
                <a:solidFill>
                  <a:srgbClr val="383838"/>
                </a:solidFill>
                <a:latin typeface="DM Sans" pitchFamily="34" charset="0"/>
                <a:ea typeface="DM Sans" pitchFamily="34" charset="-122"/>
                <a:cs typeface="DM Sans" pitchFamily="34" charset="-120"/>
              </a:rPr>
              <a:t>Target 10–15% reduction in cosmetics inventory levels, freeing approximately $8K–$12K in working capital for higher-velocity categories or debt reduction.</a:t>
            </a:r>
            <a:endParaRPr lang="en-US" sz="1150" dirty="0"/>
          </a:p>
        </p:txBody>
      </p:sp>
      <p:pic>
        <p:nvPicPr>
          <p:cNvPr id="8" name="Image 2" descr="preencoded.png"/>
          <p:cNvPicPr>
            <a:picLocks noChangeAspect="1"/>
          </p:cNvPicPr>
          <p:nvPr/>
        </p:nvPicPr>
        <p:blipFill>
          <a:blip r:embed="rId4"/>
          <a:stretch>
            <a:fillRect/>
          </a:stretch>
        </p:blipFill>
        <p:spPr>
          <a:xfrm>
            <a:off x="6276618" y="3765113"/>
            <a:ext cx="733782" cy="1091684"/>
          </a:xfrm>
          <a:prstGeom prst="rect">
            <a:avLst/>
          </a:prstGeom>
        </p:spPr>
      </p:pic>
      <p:sp>
        <p:nvSpPr>
          <p:cNvPr id="9" name="Text 4"/>
          <p:cNvSpPr/>
          <p:nvPr/>
        </p:nvSpPr>
        <p:spPr>
          <a:xfrm>
            <a:off x="7157085" y="3911798"/>
            <a:ext cx="1926193" cy="240744"/>
          </a:xfrm>
          <a:prstGeom prst="rect">
            <a:avLst/>
          </a:prstGeom>
          <a:noFill/>
          <a:ln/>
        </p:spPr>
        <p:txBody>
          <a:bodyPr wrap="none" lIns="0" tIns="0" rIns="0" bIns="0" rtlCol="0" anchor="t"/>
          <a:lstStyle/>
          <a:p>
            <a:pPr marL="0" indent="0" algn="l">
              <a:lnSpc>
                <a:spcPts val="1850"/>
              </a:lnSpc>
              <a:buNone/>
            </a:pPr>
            <a:r>
              <a:rPr lang="en-US" sz="1500" dirty="0">
                <a:solidFill>
                  <a:srgbClr val="383838"/>
                </a:solidFill>
                <a:latin typeface="PT Serif" pitchFamily="34" charset="0"/>
                <a:ea typeface="PT Serif" pitchFamily="34" charset="-122"/>
                <a:cs typeface="PT Serif" pitchFamily="34" charset="-120"/>
              </a:rPr>
              <a:t>Reallocate to Skincare</a:t>
            </a:r>
            <a:endParaRPr lang="en-US" sz="1500" dirty="0"/>
          </a:p>
        </p:txBody>
      </p:sp>
      <p:sp>
        <p:nvSpPr>
          <p:cNvPr id="10" name="Text 5"/>
          <p:cNvSpPr/>
          <p:nvPr/>
        </p:nvSpPr>
        <p:spPr>
          <a:xfrm>
            <a:off x="7157085" y="4240530"/>
            <a:ext cx="6683097" cy="469582"/>
          </a:xfrm>
          <a:prstGeom prst="rect">
            <a:avLst/>
          </a:prstGeom>
          <a:noFill/>
          <a:ln/>
        </p:spPr>
        <p:txBody>
          <a:bodyPr wrap="square" lIns="0" tIns="0" rIns="0" bIns="0" rtlCol="0" anchor="t"/>
          <a:lstStyle/>
          <a:p>
            <a:pPr marL="0" indent="0" algn="l">
              <a:lnSpc>
                <a:spcPts val="1800"/>
              </a:lnSpc>
              <a:buNone/>
            </a:pPr>
            <a:r>
              <a:rPr lang="en-US" sz="1150" dirty="0">
                <a:solidFill>
                  <a:srgbClr val="383838"/>
                </a:solidFill>
                <a:latin typeface="DM Sans" pitchFamily="34" charset="0"/>
                <a:ea typeface="DM Sans" pitchFamily="34" charset="-122"/>
                <a:cs typeface="DM Sans" pitchFamily="34" charset="-120"/>
              </a:rPr>
              <a:t>Redirect freed inventory capacity toward skincare due to demonstrated higher sales velocity and better inventory-to-revenue alignment.</a:t>
            </a:r>
            <a:endParaRPr lang="en-US" sz="1150" dirty="0"/>
          </a:p>
        </p:txBody>
      </p:sp>
      <p:pic>
        <p:nvPicPr>
          <p:cNvPr id="11" name="Image 3" descr="preencoded.png"/>
          <p:cNvPicPr>
            <a:picLocks noChangeAspect="1"/>
          </p:cNvPicPr>
          <p:nvPr/>
        </p:nvPicPr>
        <p:blipFill>
          <a:blip r:embed="rId5"/>
          <a:stretch>
            <a:fillRect/>
          </a:stretch>
        </p:blipFill>
        <p:spPr>
          <a:xfrm>
            <a:off x="6276618" y="4856798"/>
            <a:ext cx="733782" cy="1091684"/>
          </a:xfrm>
          <a:prstGeom prst="rect">
            <a:avLst/>
          </a:prstGeom>
        </p:spPr>
      </p:pic>
      <p:sp>
        <p:nvSpPr>
          <p:cNvPr id="12" name="Text 6"/>
          <p:cNvSpPr/>
          <p:nvPr/>
        </p:nvSpPr>
        <p:spPr>
          <a:xfrm>
            <a:off x="7157085" y="5003483"/>
            <a:ext cx="2224445" cy="240744"/>
          </a:xfrm>
          <a:prstGeom prst="rect">
            <a:avLst/>
          </a:prstGeom>
          <a:noFill/>
          <a:ln/>
        </p:spPr>
        <p:txBody>
          <a:bodyPr wrap="none" lIns="0" tIns="0" rIns="0" bIns="0" rtlCol="0" anchor="t"/>
          <a:lstStyle/>
          <a:p>
            <a:pPr marL="0" indent="0" algn="l">
              <a:lnSpc>
                <a:spcPts val="1850"/>
              </a:lnSpc>
              <a:buNone/>
            </a:pPr>
            <a:r>
              <a:rPr lang="en-US" sz="1500" dirty="0">
                <a:solidFill>
                  <a:srgbClr val="383838"/>
                </a:solidFill>
                <a:latin typeface="PT Serif" pitchFamily="34" charset="0"/>
                <a:ea typeface="PT Serif" pitchFamily="34" charset="-122"/>
                <a:cs typeface="PT Serif" pitchFamily="34" charset="-120"/>
              </a:rPr>
              <a:t>Reassess Route C Strategy</a:t>
            </a:r>
            <a:endParaRPr lang="en-US" sz="1500" dirty="0"/>
          </a:p>
        </p:txBody>
      </p:sp>
      <p:sp>
        <p:nvSpPr>
          <p:cNvPr id="13" name="Text 7"/>
          <p:cNvSpPr/>
          <p:nvPr/>
        </p:nvSpPr>
        <p:spPr>
          <a:xfrm>
            <a:off x="7157085" y="5332214"/>
            <a:ext cx="6683097" cy="469582"/>
          </a:xfrm>
          <a:prstGeom prst="rect">
            <a:avLst/>
          </a:prstGeom>
          <a:noFill/>
          <a:ln/>
        </p:spPr>
        <p:txBody>
          <a:bodyPr wrap="square" lIns="0" tIns="0" rIns="0" bIns="0" rtlCol="0" anchor="t"/>
          <a:lstStyle/>
          <a:p>
            <a:pPr marL="0" indent="0" algn="l">
              <a:lnSpc>
                <a:spcPts val="1800"/>
              </a:lnSpc>
              <a:buNone/>
            </a:pPr>
            <a:r>
              <a:rPr lang="en-US" sz="1150" dirty="0">
                <a:solidFill>
                  <a:srgbClr val="383838"/>
                </a:solidFill>
                <a:latin typeface="DM Sans" pitchFamily="34" charset="0"/>
                <a:ea typeface="DM Sans" pitchFamily="34" charset="-122"/>
                <a:cs typeface="DM Sans" pitchFamily="34" charset="-120"/>
              </a:rPr>
              <a:t>Conduct comprehensive Route C profitability analysis to determine whether to improve operational efficiency, reduce exposure, or reallocate resources to higher-performing routes.</a:t>
            </a:r>
            <a:endParaRPr lang="en-US" sz="1150" dirty="0"/>
          </a:p>
        </p:txBody>
      </p:sp>
      <p:pic>
        <p:nvPicPr>
          <p:cNvPr id="14" name="Image 4" descr="preencoded.png"/>
          <p:cNvPicPr>
            <a:picLocks noChangeAspect="1"/>
          </p:cNvPicPr>
          <p:nvPr/>
        </p:nvPicPr>
        <p:blipFill>
          <a:blip r:embed="rId6"/>
          <a:stretch>
            <a:fillRect/>
          </a:stretch>
        </p:blipFill>
        <p:spPr>
          <a:xfrm>
            <a:off x="6276618" y="6278523"/>
            <a:ext cx="660321" cy="958453"/>
          </a:xfrm>
          <a:prstGeom prst="rect">
            <a:avLst/>
          </a:prstGeom>
        </p:spPr>
      </p:pic>
      <p:pic>
        <p:nvPicPr>
          <p:cNvPr id="15" name="Image 5" descr="preencoded.png"/>
          <p:cNvPicPr>
            <a:picLocks noChangeAspect="1"/>
          </p:cNvPicPr>
          <p:nvPr/>
        </p:nvPicPr>
        <p:blipFill>
          <a:blip r:embed="rId7"/>
          <a:stretch>
            <a:fillRect/>
          </a:stretch>
        </p:blipFill>
        <p:spPr>
          <a:xfrm>
            <a:off x="8898255" y="6278523"/>
            <a:ext cx="660321" cy="958453"/>
          </a:xfrm>
          <a:prstGeom prst="rect">
            <a:avLst/>
          </a:prstGeom>
        </p:spPr>
      </p:pic>
      <p:pic>
        <p:nvPicPr>
          <p:cNvPr id="16" name="Image 6" descr="preencoded.png"/>
          <p:cNvPicPr>
            <a:picLocks noChangeAspect="1"/>
          </p:cNvPicPr>
          <p:nvPr/>
        </p:nvPicPr>
        <p:blipFill>
          <a:blip r:embed="rId8"/>
          <a:stretch>
            <a:fillRect/>
          </a:stretch>
        </p:blipFill>
        <p:spPr>
          <a:xfrm>
            <a:off x="11519892" y="6278523"/>
            <a:ext cx="660321" cy="1166098"/>
          </a:xfrm>
          <a:prstGeom prst="rect">
            <a:avLst/>
          </a:prstGeom>
        </p:spPr>
      </p:pic>
      <p:pic>
        <p:nvPicPr>
          <p:cNvPr id="18" name="Picture 17">
            <a:extLst>
              <a:ext uri="{FF2B5EF4-FFF2-40B4-BE49-F238E27FC236}">
                <a16:creationId xmlns:a16="http://schemas.microsoft.com/office/drawing/2014/main" id="{B4DD6F05-0E22-83DD-1767-86638F4D4DCE}"/>
              </a:ext>
            </a:extLst>
          </p:cNvPr>
          <p:cNvPicPr>
            <a:picLocks noChangeAspect="1"/>
          </p:cNvPicPr>
          <p:nvPr/>
        </p:nvPicPr>
        <p:blipFill>
          <a:blip r:embed="rId9"/>
          <a:stretch>
            <a:fillRect/>
          </a:stretch>
        </p:blipFill>
        <p:spPr>
          <a:xfrm>
            <a:off x="426720" y="2428280"/>
            <a:ext cx="5410200" cy="2695575"/>
          </a:xfrm>
          <a:prstGeom prst="rect">
            <a:avLst/>
          </a:prstGeom>
        </p:spPr>
      </p:pic>
      <p:sp>
        <p:nvSpPr>
          <p:cNvPr id="19" name="Rectangle 18">
            <a:extLst>
              <a:ext uri="{FF2B5EF4-FFF2-40B4-BE49-F238E27FC236}">
                <a16:creationId xmlns:a16="http://schemas.microsoft.com/office/drawing/2014/main" id="{8A797526-3BDB-E3A3-791D-77854F9FA7AC}"/>
              </a:ext>
            </a:extLst>
          </p:cNvPr>
          <p:cNvSpPr/>
          <p:nvPr/>
        </p:nvSpPr>
        <p:spPr>
          <a:xfrm>
            <a:off x="12443460" y="7581900"/>
            <a:ext cx="2133600" cy="591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253996" y="603052"/>
            <a:ext cx="7608808" cy="935355"/>
          </a:xfrm>
          <a:prstGeom prst="rect">
            <a:avLst/>
          </a:prstGeom>
          <a:noFill/>
          <a:ln/>
        </p:spPr>
        <p:txBody>
          <a:bodyPr wrap="square" lIns="0" tIns="0" rIns="0" bIns="0" rtlCol="0" anchor="t"/>
          <a:lstStyle/>
          <a:p>
            <a:pPr marL="0" indent="0" algn="l">
              <a:lnSpc>
                <a:spcPts val="3650"/>
              </a:lnSpc>
              <a:buNone/>
            </a:pPr>
            <a:r>
              <a:rPr lang="en-US" sz="2900" dirty="0">
                <a:solidFill>
                  <a:srgbClr val="020202"/>
                </a:solidFill>
                <a:latin typeface="PT Serif" pitchFamily="34" charset="0"/>
                <a:ea typeface="PT Serif" pitchFamily="34" charset="-122"/>
                <a:cs typeface="PT Serif" pitchFamily="34" charset="-120"/>
              </a:rPr>
              <a:t>Recommendations: Strengthen Supplier Risk Management</a:t>
            </a:r>
            <a:endParaRPr lang="en-US" sz="2900" dirty="0"/>
          </a:p>
        </p:txBody>
      </p:sp>
      <p:sp>
        <p:nvSpPr>
          <p:cNvPr id="4" name="Text 1"/>
          <p:cNvSpPr/>
          <p:nvPr/>
        </p:nvSpPr>
        <p:spPr>
          <a:xfrm>
            <a:off x="6253996" y="1752124"/>
            <a:ext cx="7608808" cy="684014"/>
          </a:xfrm>
          <a:prstGeom prst="rect">
            <a:avLst/>
          </a:prstGeom>
          <a:noFill/>
          <a:ln/>
        </p:spPr>
        <p:txBody>
          <a:bodyPr wrap="square" lIns="0" tIns="0" rIns="0" bIns="0" rtlCol="0" anchor="t"/>
          <a:lstStyle/>
          <a:p>
            <a:pPr marL="0" indent="0" algn="l">
              <a:lnSpc>
                <a:spcPts val="1750"/>
              </a:lnSpc>
              <a:buNone/>
            </a:pPr>
            <a:r>
              <a:rPr lang="en-US" sz="1100" dirty="0">
                <a:solidFill>
                  <a:srgbClr val="383838"/>
                </a:solidFill>
                <a:latin typeface="DM Sans" pitchFamily="34" charset="0"/>
                <a:ea typeface="DM Sans" pitchFamily="34" charset="-122"/>
                <a:cs typeface="DM Sans" pitchFamily="34" charset="-120"/>
              </a:rPr>
              <a:t>Supplier risk management requires differentiated strategies rather than uniform policies. By tailoring our approach to each supplier's specific risk profile, we maximize improvement impact while optimizing management resources and maintaining critical supply relationships.</a:t>
            </a:r>
            <a:endParaRPr lang="en-US" sz="1100" dirty="0"/>
          </a:p>
        </p:txBody>
      </p:sp>
      <p:sp>
        <p:nvSpPr>
          <p:cNvPr id="5" name="Shape 2"/>
          <p:cNvSpPr/>
          <p:nvPr/>
        </p:nvSpPr>
        <p:spPr>
          <a:xfrm>
            <a:off x="6253996" y="2810113"/>
            <a:ext cx="3733086" cy="2232541"/>
          </a:xfrm>
          <a:prstGeom prst="roundRect">
            <a:avLst>
              <a:gd name="adj" fmla="val 3277"/>
            </a:avLst>
          </a:prstGeom>
          <a:solidFill>
            <a:srgbClr val="FFFFFF"/>
          </a:solidFill>
          <a:ln/>
        </p:spPr>
        <p:txBody>
          <a:bodyPr/>
          <a:lstStyle/>
          <a:p>
            <a:endParaRPr lang="en-US"/>
          </a:p>
        </p:txBody>
      </p:sp>
      <p:sp>
        <p:nvSpPr>
          <p:cNvPr id="6" name="Shape 3"/>
          <p:cNvSpPr/>
          <p:nvPr/>
        </p:nvSpPr>
        <p:spPr>
          <a:xfrm>
            <a:off x="6253996" y="2794873"/>
            <a:ext cx="3733086" cy="60960"/>
          </a:xfrm>
          <a:prstGeom prst="roundRect">
            <a:avLst>
              <a:gd name="adj" fmla="val 35077"/>
            </a:avLst>
          </a:prstGeom>
          <a:solidFill>
            <a:srgbClr val="E04F00"/>
          </a:solidFill>
          <a:ln/>
        </p:spPr>
        <p:txBody>
          <a:bodyPr/>
          <a:lstStyle/>
          <a:p>
            <a:endParaRPr lang="en-US"/>
          </a:p>
        </p:txBody>
      </p:sp>
      <p:sp>
        <p:nvSpPr>
          <p:cNvPr id="7" name="Shape 4"/>
          <p:cNvSpPr/>
          <p:nvPr/>
        </p:nvSpPr>
        <p:spPr>
          <a:xfrm>
            <a:off x="7906762" y="2596396"/>
            <a:ext cx="427553" cy="427553"/>
          </a:xfrm>
          <a:prstGeom prst="roundRect">
            <a:avLst>
              <a:gd name="adj" fmla="val 213868"/>
            </a:avLst>
          </a:prstGeom>
          <a:solidFill>
            <a:srgbClr val="E04F00"/>
          </a:solidFill>
          <a:ln/>
        </p:spPr>
        <p:txBody>
          <a:bodyPr/>
          <a:lstStyle/>
          <a:p>
            <a:endParaRPr lang="en-US"/>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34992" y="2724626"/>
            <a:ext cx="170974" cy="170974"/>
          </a:xfrm>
          <a:prstGeom prst="rect">
            <a:avLst/>
          </a:prstGeom>
        </p:spPr>
      </p:pic>
      <p:sp>
        <p:nvSpPr>
          <p:cNvPr id="9" name="Text 5"/>
          <p:cNvSpPr/>
          <p:nvPr/>
        </p:nvSpPr>
        <p:spPr>
          <a:xfrm>
            <a:off x="6411754" y="3166467"/>
            <a:ext cx="1870948" cy="233720"/>
          </a:xfrm>
          <a:prstGeom prst="rect">
            <a:avLst/>
          </a:prstGeom>
          <a:noFill/>
          <a:ln/>
        </p:spPr>
        <p:txBody>
          <a:bodyPr wrap="none" lIns="0" tIns="0" rIns="0" bIns="0" rtlCol="0" anchor="t"/>
          <a:lstStyle/>
          <a:p>
            <a:pPr marL="0" indent="0" algn="l">
              <a:lnSpc>
                <a:spcPts val="1800"/>
              </a:lnSpc>
              <a:buNone/>
            </a:pPr>
            <a:r>
              <a:rPr lang="en-US" sz="1450" dirty="0">
                <a:solidFill>
                  <a:srgbClr val="383838"/>
                </a:solidFill>
                <a:latin typeface="PT Serif" pitchFamily="34" charset="0"/>
                <a:ea typeface="PT Serif" pitchFamily="34" charset="-122"/>
                <a:cs typeface="PT Serif" pitchFamily="34" charset="-120"/>
              </a:rPr>
              <a:t>Supplier 5</a:t>
            </a:r>
            <a:endParaRPr lang="en-US" sz="1450" dirty="0"/>
          </a:p>
        </p:txBody>
      </p:sp>
      <p:sp>
        <p:nvSpPr>
          <p:cNvPr id="10" name="Text 6"/>
          <p:cNvSpPr/>
          <p:nvPr/>
        </p:nvSpPr>
        <p:spPr>
          <a:xfrm>
            <a:off x="6411754" y="3457099"/>
            <a:ext cx="2245162" cy="280630"/>
          </a:xfrm>
          <a:prstGeom prst="rect">
            <a:avLst/>
          </a:prstGeom>
          <a:noFill/>
          <a:ln/>
        </p:spPr>
        <p:txBody>
          <a:bodyPr wrap="none" lIns="0" tIns="0" rIns="0" bIns="0" rtlCol="0" anchor="t"/>
          <a:lstStyle/>
          <a:p>
            <a:pPr marL="0" indent="0" algn="l">
              <a:lnSpc>
                <a:spcPts val="2200"/>
              </a:lnSpc>
              <a:buNone/>
            </a:pPr>
            <a:r>
              <a:rPr lang="en-US" sz="1750" dirty="0">
                <a:solidFill>
                  <a:srgbClr val="383838"/>
                </a:solidFill>
                <a:latin typeface="PT Serif" pitchFamily="34" charset="0"/>
                <a:ea typeface="PT Serif" pitchFamily="34" charset="-122"/>
                <a:cs typeface="PT Serif" pitchFamily="34" charset="-120"/>
              </a:rPr>
              <a:t>Corrective Action</a:t>
            </a:r>
            <a:endParaRPr lang="en-US" sz="1750" dirty="0"/>
          </a:p>
        </p:txBody>
      </p:sp>
      <p:sp>
        <p:nvSpPr>
          <p:cNvPr id="11" name="Text 7"/>
          <p:cNvSpPr/>
          <p:nvPr/>
        </p:nvSpPr>
        <p:spPr>
          <a:xfrm>
            <a:off x="6411754" y="3823216"/>
            <a:ext cx="3417570"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Enhanced inspection protocols</a:t>
            </a:r>
            <a:endParaRPr lang="en-US" sz="1100" dirty="0"/>
          </a:p>
        </p:txBody>
      </p:sp>
      <p:sp>
        <p:nvSpPr>
          <p:cNvPr id="12" name="Text 8"/>
          <p:cNvSpPr/>
          <p:nvPr/>
        </p:nvSpPr>
        <p:spPr>
          <a:xfrm>
            <a:off x="6411754" y="4101108"/>
            <a:ext cx="3417570"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Increase quality sampling frequency</a:t>
            </a:r>
            <a:endParaRPr lang="en-US" sz="1100" dirty="0"/>
          </a:p>
        </p:txBody>
      </p:sp>
      <p:sp>
        <p:nvSpPr>
          <p:cNvPr id="13" name="Text 9"/>
          <p:cNvSpPr/>
          <p:nvPr/>
        </p:nvSpPr>
        <p:spPr>
          <a:xfrm>
            <a:off x="6411754" y="4379000"/>
            <a:ext cx="3417570"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SLA enforcement with penalties</a:t>
            </a:r>
            <a:endParaRPr lang="en-US" sz="1100" dirty="0"/>
          </a:p>
        </p:txBody>
      </p:sp>
      <p:sp>
        <p:nvSpPr>
          <p:cNvPr id="14" name="Text 10"/>
          <p:cNvSpPr/>
          <p:nvPr/>
        </p:nvSpPr>
        <p:spPr>
          <a:xfrm>
            <a:off x="6411754" y="4656892"/>
            <a:ext cx="3417570"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Contingency sourcing development</a:t>
            </a:r>
            <a:endParaRPr lang="en-US" sz="1100" dirty="0"/>
          </a:p>
        </p:txBody>
      </p:sp>
      <p:sp>
        <p:nvSpPr>
          <p:cNvPr id="15" name="Shape 11"/>
          <p:cNvSpPr/>
          <p:nvPr/>
        </p:nvSpPr>
        <p:spPr>
          <a:xfrm>
            <a:off x="10129599" y="2810113"/>
            <a:ext cx="3733205" cy="2232541"/>
          </a:xfrm>
          <a:prstGeom prst="roundRect">
            <a:avLst>
              <a:gd name="adj" fmla="val 3277"/>
            </a:avLst>
          </a:prstGeom>
          <a:solidFill>
            <a:srgbClr val="FFFFFF"/>
          </a:solidFill>
          <a:ln/>
        </p:spPr>
        <p:txBody>
          <a:bodyPr/>
          <a:lstStyle/>
          <a:p>
            <a:endParaRPr lang="en-US"/>
          </a:p>
        </p:txBody>
      </p:sp>
      <p:sp>
        <p:nvSpPr>
          <p:cNvPr id="16" name="Shape 12"/>
          <p:cNvSpPr/>
          <p:nvPr/>
        </p:nvSpPr>
        <p:spPr>
          <a:xfrm>
            <a:off x="10129599" y="2794873"/>
            <a:ext cx="3733205" cy="60960"/>
          </a:xfrm>
          <a:prstGeom prst="roundRect">
            <a:avLst>
              <a:gd name="adj" fmla="val 35077"/>
            </a:avLst>
          </a:prstGeom>
          <a:solidFill>
            <a:srgbClr val="E04F00"/>
          </a:solidFill>
          <a:ln/>
        </p:spPr>
        <p:txBody>
          <a:bodyPr/>
          <a:lstStyle/>
          <a:p>
            <a:endParaRPr lang="en-US"/>
          </a:p>
        </p:txBody>
      </p:sp>
      <p:sp>
        <p:nvSpPr>
          <p:cNvPr id="17" name="Shape 13"/>
          <p:cNvSpPr/>
          <p:nvPr/>
        </p:nvSpPr>
        <p:spPr>
          <a:xfrm>
            <a:off x="11782365" y="2596396"/>
            <a:ext cx="427553" cy="427553"/>
          </a:xfrm>
          <a:prstGeom prst="roundRect">
            <a:avLst>
              <a:gd name="adj" fmla="val 213868"/>
            </a:avLst>
          </a:prstGeom>
          <a:solidFill>
            <a:srgbClr val="E04F00"/>
          </a:solidFill>
          <a:ln/>
        </p:spPr>
        <p:txBody>
          <a:bodyPr/>
          <a:lstStyle/>
          <a:p>
            <a:endParaRPr lang="en-US"/>
          </a:p>
        </p:txBody>
      </p:sp>
      <p:pic>
        <p:nvPicPr>
          <p:cNvPr id="18"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10596" y="2724626"/>
            <a:ext cx="170974" cy="170974"/>
          </a:xfrm>
          <a:prstGeom prst="rect">
            <a:avLst/>
          </a:prstGeom>
        </p:spPr>
      </p:pic>
      <p:sp>
        <p:nvSpPr>
          <p:cNvPr id="19" name="Text 14"/>
          <p:cNvSpPr/>
          <p:nvPr/>
        </p:nvSpPr>
        <p:spPr>
          <a:xfrm>
            <a:off x="10287357" y="3166467"/>
            <a:ext cx="1870948" cy="233720"/>
          </a:xfrm>
          <a:prstGeom prst="rect">
            <a:avLst/>
          </a:prstGeom>
          <a:noFill/>
          <a:ln/>
        </p:spPr>
        <p:txBody>
          <a:bodyPr wrap="none" lIns="0" tIns="0" rIns="0" bIns="0" rtlCol="0" anchor="t"/>
          <a:lstStyle/>
          <a:p>
            <a:pPr marL="0" indent="0" algn="l">
              <a:lnSpc>
                <a:spcPts val="1800"/>
              </a:lnSpc>
              <a:buNone/>
            </a:pPr>
            <a:r>
              <a:rPr lang="en-US" sz="1450" dirty="0">
                <a:solidFill>
                  <a:srgbClr val="383838"/>
                </a:solidFill>
                <a:latin typeface="PT Serif" pitchFamily="34" charset="0"/>
                <a:ea typeface="PT Serif" pitchFamily="34" charset="-122"/>
                <a:cs typeface="PT Serif" pitchFamily="34" charset="-120"/>
              </a:rPr>
              <a:t>Supplier 1</a:t>
            </a:r>
            <a:endParaRPr lang="en-US" sz="1450" dirty="0"/>
          </a:p>
        </p:txBody>
      </p:sp>
      <p:sp>
        <p:nvSpPr>
          <p:cNvPr id="20" name="Text 15"/>
          <p:cNvSpPr/>
          <p:nvPr/>
        </p:nvSpPr>
        <p:spPr>
          <a:xfrm>
            <a:off x="10287357" y="3457099"/>
            <a:ext cx="2605683" cy="280630"/>
          </a:xfrm>
          <a:prstGeom prst="rect">
            <a:avLst/>
          </a:prstGeom>
          <a:noFill/>
          <a:ln/>
        </p:spPr>
        <p:txBody>
          <a:bodyPr wrap="none" lIns="0" tIns="0" rIns="0" bIns="0" rtlCol="0" anchor="t"/>
          <a:lstStyle/>
          <a:p>
            <a:pPr marL="0" indent="0" algn="l">
              <a:lnSpc>
                <a:spcPts val="2200"/>
              </a:lnSpc>
              <a:buNone/>
            </a:pPr>
            <a:r>
              <a:rPr lang="en-US" sz="1750" dirty="0">
                <a:solidFill>
                  <a:srgbClr val="383838"/>
                </a:solidFill>
                <a:latin typeface="PT Serif" pitchFamily="34" charset="0"/>
                <a:ea typeface="PT Serif" pitchFamily="34" charset="-122"/>
                <a:cs typeface="PT Serif" pitchFamily="34" charset="-120"/>
              </a:rPr>
              <a:t>Partnership Enhancement</a:t>
            </a:r>
            <a:endParaRPr lang="en-US" sz="1750" dirty="0"/>
          </a:p>
        </p:txBody>
      </p:sp>
      <p:sp>
        <p:nvSpPr>
          <p:cNvPr id="21" name="Text 16"/>
          <p:cNvSpPr/>
          <p:nvPr/>
        </p:nvSpPr>
        <p:spPr>
          <a:xfrm>
            <a:off x="10287357" y="3823216"/>
            <a:ext cx="3417689"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Focus on delivery reliability</a:t>
            </a:r>
            <a:endParaRPr lang="en-US" sz="1100" dirty="0"/>
          </a:p>
        </p:txBody>
      </p:sp>
      <p:sp>
        <p:nvSpPr>
          <p:cNvPr id="22" name="Text 17"/>
          <p:cNvSpPr/>
          <p:nvPr/>
        </p:nvSpPr>
        <p:spPr>
          <a:xfrm>
            <a:off x="10287357" y="4101108"/>
            <a:ext cx="3417689"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Maintain quality standards</a:t>
            </a:r>
            <a:endParaRPr lang="en-US" sz="1100" dirty="0"/>
          </a:p>
        </p:txBody>
      </p:sp>
      <p:sp>
        <p:nvSpPr>
          <p:cNvPr id="23" name="Text 18"/>
          <p:cNvSpPr/>
          <p:nvPr/>
        </p:nvSpPr>
        <p:spPr>
          <a:xfrm>
            <a:off x="10287357" y="4379000"/>
            <a:ext cx="3417689"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Collaborative improvement planning</a:t>
            </a:r>
            <a:endParaRPr lang="en-US" sz="1100" dirty="0"/>
          </a:p>
        </p:txBody>
      </p:sp>
      <p:sp>
        <p:nvSpPr>
          <p:cNvPr id="24" name="Text 19"/>
          <p:cNvSpPr/>
          <p:nvPr/>
        </p:nvSpPr>
        <p:spPr>
          <a:xfrm>
            <a:off x="10287357" y="4656892"/>
            <a:ext cx="3417689"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Protect margin contribution</a:t>
            </a:r>
            <a:endParaRPr lang="en-US" sz="1100" dirty="0"/>
          </a:p>
        </p:txBody>
      </p:sp>
      <p:sp>
        <p:nvSpPr>
          <p:cNvPr id="25" name="Shape 20"/>
          <p:cNvSpPr/>
          <p:nvPr/>
        </p:nvSpPr>
        <p:spPr>
          <a:xfrm>
            <a:off x="6253996" y="5398889"/>
            <a:ext cx="7608808" cy="2232541"/>
          </a:xfrm>
          <a:prstGeom prst="roundRect">
            <a:avLst>
              <a:gd name="adj" fmla="val 3277"/>
            </a:avLst>
          </a:prstGeom>
          <a:solidFill>
            <a:srgbClr val="FFFFFF"/>
          </a:solidFill>
          <a:ln/>
        </p:spPr>
        <p:txBody>
          <a:bodyPr/>
          <a:lstStyle/>
          <a:p>
            <a:endParaRPr lang="en-US"/>
          </a:p>
        </p:txBody>
      </p:sp>
      <p:sp>
        <p:nvSpPr>
          <p:cNvPr id="26" name="Shape 21"/>
          <p:cNvSpPr/>
          <p:nvPr/>
        </p:nvSpPr>
        <p:spPr>
          <a:xfrm>
            <a:off x="6253996" y="5383649"/>
            <a:ext cx="7608808" cy="60960"/>
          </a:xfrm>
          <a:prstGeom prst="roundRect">
            <a:avLst>
              <a:gd name="adj" fmla="val 35077"/>
            </a:avLst>
          </a:prstGeom>
          <a:solidFill>
            <a:srgbClr val="E04F00"/>
          </a:solidFill>
          <a:ln/>
        </p:spPr>
        <p:txBody>
          <a:bodyPr/>
          <a:lstStyle/>
          <a:p>
            <a:endParaRPr lang="en-US"/>
          </a:p>
        </p:txBody>
      </p:sp>
      <p:sp>
        <p:nvSpPr>
          <p:cNvPr id="27" name="Shape 22"/>
          <p:cNvSpPr/>
          <p:nvPr/>
        </p:nvSpPr>
        <p:spPr>
          <a:xfrm>
            <a:off x="9844623" y="5185172"/>
            <a:ext cx="427553" cy="427553"/>
          </a:xfrm>
          <a:prstGeom prst="roundRect">
            <a:avLst>
              <a:gd name="adj" fmla="val 213868"/>
            </a:avLst>
          </a:prstGeom>
          <a:solidFill>
            <a:srgbClr val="E04F00"/>
          </a:solidFill>
          <a:ln/>
        </p:spPr>
        <p:txBody>
          <a:bodyPr/>
          <a:lstStyle/>
          <a:p>
            <a:endParaRPr lang="en-US"/>
          </a:p>
        </p:txBody>
      </p:sp>
      <p:pic>
        <p:nvPicPr>
          <p:cNvPr id="28"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72854" y="5313402"/>
            <a:ext cx="170974" cy="170974"/>
          </a:xfrm>
          <a:prstGeom prst="rect">
            <a:avLst/>
          </a:prstGeom>
        </p:spPr>
      </p:pic>
      <p:sp>
        <p:nvSpPr>
          <p:cNvPr id="29" name="Text 23"/>
          <p:cNvSpPr/>
          <p:nvPr/>
        </p:nvSpPr>
        <p:spPr>
          <a:xfrm>
            <a:off x="6411754" y="5755243"/>
            <a:ext cx="1870948" cy="233720"/>
          </a:xfrm>
          <a:prstGeom prst="rect">
            <a:avLst/>
          </a:prstGeom>
          <a:noFill/>
          <a:ln/>
        </p:spPr>
        <p:txBody>
          <a:bodyPr wrap="none" lIns="0" tIns="0" rIns="0" bIns="0" rtlCol="0" anchor="t"/>
          <a:lstStyle/>
          <a:p>
            <a:pPr marL="0" indent="0" algn="l">
              <a:lnSpc>
                <a:spcPts val="1800"/>
              </a:lnSpc>
              <a:buNone/>
            </a:pPr>
            <a:r>
              <a:rPr lang="en-US" sz="1450" dirty="0">
                <a:solidFill>
                  <a:srgbClr val="383838"/>
                </a:solidFill>
                <a:latin typeface="PT Serif" pitchFamily="34" charset="0"/>
                <a:ea typeface="PT Serif" pitchFamily="34" charset="-122"/>
                <a:cs typeface="PT Serif" pitchFamily="34" charset="-120"/>
              </a:rPr>
              <a:t>Supplier 2</a:t>
            </a:r>
            <a:endParaRPr lang="en-US" sz="1450" dirty="0"/>
          </a:p>
        </p:txBody>
      </p:sp>
      <p:sp>
        <p:nvSpPr>
          <p:cNvPr id="30" name="Text 24"/>
          <p:cNvSpPr/>
          <p:nvPr/>
        </p:nvSpPr>
        <p:spPr>
          <a:xfrm>
            <a:off x="6411754" y="6045875"/>
            <a:ext cx="2245162" cy="280630"/>
          </a:xfrm>
          <a:prstGeom prst="rect">
            <a:avLst/>
          </a:prstGeom>
          <a:noFill/>
          <a:ln/>
        </p:spPr>
        <p:txBody>
          <a:bodyPr wrap="none" lIns="0" tIns="0" rIns="0" bIns="0" rtlCol="0" anchor="t"/>
          <a:lstStyle/>
          <a:p>
            <a:pPr marL="0" indent="0" algn="l">
              <a:lnSpc>
                <a:spcPts val="2200"/>
              </a:lnSpc>
              <a:buNone/>
            </a:pPr>
            <a:r>
              <a:rPr lang="en-US" sz="1750" dirty="0">
                <a:solidFill>
                  <a:srgbClr val="383838"/>
                </a:solidFill>
                <a:latin typeface="PT Serif" pitchFamily="34" charset="0"/>
                <a:ea typeface="PT Serif" pitchFamily="34" charset="-122"/>
                <a:cs typeface="PT Serif" pitchFamily="34" charset="-120"/>
              </a:rPr>
              <a:t>Proactive Monitoring</a:t>
            </a:r>
            <a:endParaRPr lang="en-US" sz="1750" dirty="0"/>
          </a:p>
        </p:txBody>
      </p:sp>
      <p:sp>
        <p:nvSpPr>
          <p:cNvPr id="31" name="Text 25"/>
          <p:cNvSpPr/>
          <p:nvPr/>
        </p:nvSpPr>
        <p:spPr>
          <a:xfrm>
            <a:off x="6411754" y="6411992"/>
            <a:ext cx="7293293"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Early warning system activation</a:t>
            </a:r>
            <a:endParaRPr lang="en-US" sz="1100" dirty="0"/>
          </a:p>
        </p:txBody>
      </p:sp>
      <p:sp>
        <p:nvSpPr>
          <p:cNvPr id="32" name="Text 26"/>
          <p:cNvSpPr/>
          <p:nvPr/>
        </p:nvSpPr>
        <p:spPr>
          <a:xfrm>
            <a:off x="6411754" y="6689884"/>
            <a:ext cx="7293293"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Monthly performance reviews</a:t>
            </a:r>
            <a:endParaRPr lang="en-US" sz="1100" dirty="0"/>
          </a:p>
        </p:txBody>
      </p:sp>
      <p:sp>
        <p:nvSpPr>
          <p:cNvPr id="33" name="Text 27"/>
          <p:cNvSpPr/>
          <p:nvPr/>
        </p:nvSpPr>
        <p:spPr>
          <a:xfrm>
            <a:off x="6411754" y="6967776"/>
            <a:ext cx="7293293"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Prevent risk escalation</a:t>
            </a:r>
            <a:endParaRPr lang="en-US" sz="1100" dirty="0"/>
          </a:p>
        </p:txBody>
      </p:sp>
      <p:sp>
        <p:nvSpPr>
          <p:cNvPr id="34" name="Text 28"/>
          <p:cNvSpPr/>
          <p:nvPr/>
        </p:nvSpPr>
        <p:spPr>
          <a:xfrm>
            <a:off x="6411754" y="7245668"/>
            <a:ext cx="7293293" cy="228005"/>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3838"/>
                </a:solidFill>
                <a:latin typeface="DM Sans" pitchFamily="34" charset="0"/>
                <a:ea typeface="DM Sans" pitchFamily="34" charset="-122"/>
                <a:cs typeface="DM Sans" pitchFamily="34" charset="-120"/>
              </a:rPr>
              <a:t>Maintain delivery excellence</a:t>
            </a:r>
            <a:endParaRPr lang="en-US" sz="1100" dirty="0"/>
          </a:p>
        </p:txBody>
      </p:sp>
      <p:pic>
        <p:nvPicPr>
          <p:cNvPr id="36" name="Picture 35">
            <a:extLst>
              <a:ext uri="{FF2B5EF4-FFF2-40B4-BE49-F238E27FC236}">
                <a16:creationId xmlns:a16="http://schemas.microsoft.com/office/drawing/2014/main" id="{1BF7DC74-8653-E4E0-4CAA-685F320D5499}"/>
              </a:ext>
            </a:extLst>
          </p:cNvPr>
          <p:cNvPicPr>
            <a:picLocks noChangeAspect="1"/>
          </p:cNvPicPr>
          <p:nvPr/>
        </p:nvPicPr>
        <p:blipFill>
          <a:blip r:embed="rId9"/>
          <a:stretch>
            <a:fillRect/>
          </a:stretch>
        </p:blipFill>
        <p:spPr>
          <a:xfrm>
            <a:off x="290870" y="2021800"/>
            <a:ext cx="5514975" cy="3590925"/>
          </a:xfrm>
          <a:prstGeom prst="rect">
            <a:avLst/>
          </a:prstGeom>
        </p:spPr>
      </p:pic>
      <p:sp>
        <p:nvSpPr>
          <p:cNvPr id="37" name="Rectangle 36">
            <a:extLst>
              <a:ext uri="{FF2B5EF4-FFF2-40B4-BE49-F238E27FC236}">
                <a16:creationId xmlns:a16="http://schemas.microsoft.com/office/drawing/2014/main" id="{81B323B9-F204-2D5D-2B65-576932BC6719}"/>
              </a:ext>
            </a:extLst>
          </p:cNvPr>
          <p:cNvSpPr/>
          <p:nvPr/>
        </p:nvSpPr>
        <p:spPr>
          <a:xfrm>
            <a:off x="12443460" y="7581900"/>
            <a:ext cx="2133600" cy="591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60690" y="744260"/>
            <a:ext cx="5425678" cy="606266"/>
          </a:xfrm>
          <a:prstGeom prst="rect">
            <a:avLst/>
          </a:prstGeom>
          <a:noFill/>
          <a:ln/>
        </p:spPr>
        <p:txBody>
          <a:bodyPr wrap="none" lIns="0" tIns="0" rIns="0" bIns="0" rtlCol="0" anchor="t"/>
          <a:lstStyle/>
          <a:p>
            <a:pPr marL="0" indent="0" algn="l">
              <a:lnSpc>
                <a:spcPts val="4750"/>
              </a:lnSpc>
              <a:buNone/>
            </a:pPr>
            <a:r>
              <a:rPr lang="en-US" sz="3800" dirty="0">
                <a:solidFill>
                  <a:srgbClr val="020202"/>
                </a:solidFill>
                <a:latin typeface="PT Serif" pitchFamily="34" charset="0"/>
                <a:ea typeface="PT Serif" pitchFamily="34" charset="-122"/>
                <a:cs typeface="PT Serif" pitchFamily="34" charset="-120"/>
              </a:rPr>
              <a:t>Decisions and Next Steps</a:t>
            </a:r>
            <a:endParaRPr lang="en-US" sz="3800" dirty="0"/>
          </a:p>
        </p:txBody>
      </p:sp>
      <p:sp>
        <p:nvSpPr>
          <p:cNvPr id="3" name="Shape 1"/>
          <p:cNvSpPr/>
          <p:nvPr/>
        </p:nvSpPr>
        <p:spPr>
          <a:xfrm>
            <a:off x="760690" y="1719977"/>
            <a:ext cx="13109019" cy="1670209"/>
          </a:xfrm>
          <a:prstGeom prst="roundRect">
            <a:avLst>
              <a:gd name="adj" fmla="val 1659"/>
            </a:avLst>
          </a:prstGeom>
          <a:solidFill>
            <a:srgbClr val="F2EEEE"/>
          </a:solidFill>
          <a:ln/>
        </p:spPr>
        <p:txBody>
          <a:bodyPr/>
          <a:lstStyle/>
          <a:p>
            <a:endParaRPr lang="en-US"/>
          </a:p>
        </p:txBody>
      </p:sp>
      <p:sp>
        <p:nvSpPr>
          <p:cNvPr id="4" name="Shape 2"/>
          <p:cNvSpPr/>
          <p:nvPr/>
        </p:nvSpPr>
        <p:spPr>
          <a:xfrm>
            <a:off x="760690" y="1719977"/>
            <a:ext cx="4369594" cy="1670209"/>
          </a:xfrm>
          <a:prstGeom prst="roundRect">
            <a:avLst>
              <a:gd name="adj" fmla="val 1659"/>
            </a:avLst>
          </a:prstGeom>
          <a:solidFill>
            <a:srgbClr val="F2EEEE"/>
          </a:solidFill>
          <a:ln/>
        </p:spPr>
        <p:txBody>
          <a:bodyPr/>
          <a:lstStyle/>
          <a:p>
            <a:endParaRPr lang="en-US"/>
          </a:p>
        </p:txBody>
      </p:sp>
      <p:sp>
        <p:nvSpPr>
          <p:cNvPr id="5" name="Text 3"/>
          <p:cNvSpPr/>
          <p:nvPr/>
        </p:nvSpPr>
        <p:spPr>
          <a:xfrm>
            <a:off x="945356" y="1904643"/>
            <a:ext cx="3096816" cy="303133"/>
          </a:xfrm>
          <a:prstGeom prst="rect">
            <a:avLst/>
          </a:prstGeom>
          <a:noFill/>
          <a:ln/>
        </p:spPr>
        <p:txBody>
          <a:bodyPr wrap="none" lIns="0" tIns="0" rIns="0" bIns="0" rtlCol="0" anchor="t"/>
          <a:lstStyle/>
          <a:p>
            <a:pPr marL="0" indent="0" algn="l">
              <a:lnSpc>
                <a:spcPts val="2350"/>
              </a:lnSpc>
              <a:buNone/>
            </a:pPr>
            <a:r>
              <a:rPr lang="en-US" sz="1900" dirty="0">
                <a:solidFill>
                  <a:srgbClr val="383838"/>
                </a:solidFill>
                <a:latin typeface="PT Serif" pitchFamily="34" charset="0"/>
                <a:ea typeface="PT Serif" pitchFamily="34" charset="-122"/>
                <a:cs typeface="PT Serif" pitchFamily="34" charset="-120"/>
              </a:rPr>
              <a:t>Approve Carrier Rebalancing</a:t>
            </a:r>
            <a:endParaRPr lang="en-US" sz="1900" dirty="0"/>
          </a:p>
        </p:txBody>
      </p:sp>
      <p:sp>
        <p:nvSpPr>
          <p:cNvPr id="6" name="Text 4"/>
          <p:cNvSpPr/>
          <p:nvPr/>
        </p:nvSpPr>
        <p:spPr>
          <a:xfrm>
            <a:off x="945356" y="2318623"/>
            <a:ext cx="4000262" cy="886897"/>
          </a:xfrm>
          <a:prstGeom prst="rect">
            <a:avLst/>
          </a:prstGeom>
          <a:noFill/>
          <a:ln/>
        </p:spPr>
        <p:txBody>
          <a:bodyPr wrap="square" lIns="0" tIns="0" rIns="0" bIns="0" rtlCol="0" anchor="t"/>
          <a:lstStyle/>
          <a:p>
            <a:pPr marL="0" indent="0" algn="l">
              <a:lnSpc>
                <a:spcPts val="2300"/>
              </a:lnSpc>
              <a:buNone/>
            </a:pPr>
            <a:r>
              <a:rPr lang="en-US" sz="1450" dirty="0">
                <a:solidFill>
                  <a:srgbClr val="383838"/>
                </a:solidFill>
                <a:latin typeface="DM Sans" pitchFamily="34" charset="0"/>
                <a:ea typeface="DM Sans" pitchFamily="34" charset="-122"/>
                <a:cs typeface="DM Sans" pitchFamily="34" charset="-120"/>
              </a:rPr>
              <a:t>Executive approval needed for carrier volume shifts and SLA renegotiation strategy, with implementation target of 30 days</a:t>
            </a:r>
            <a:endParaRPr lang="en-US" sz="1450" dirty="0"/>
          </a:p>
        </p:txBody>
      </p:sp>
      <p:sp>
        <p:nvSpPr>
          <p:cNvPr id="7" name="Shape 5"/>
          <p:cNvSpPr/>
          <p:nvPr/>
        </p:nvSpPr>
        <p:spPr>
          <a:xfrm>
            <a:off x="5130284" y="1719977"/>
            <a:ext cx="4369713" cy="1670209"/>
          </a:xfrm>
          <a:prstGeom prst="rect">
            <a:avLst/>
          </a:prstGeom>
          <a:solidFill>
            <a:srgbClr val="F2EEEE"/>
          </a:solidFill>
          <a:ln/>
        </p:spPr>
        <p:txBody>
          <a:bodyPr/>
          <a:lstStyle/>
          <a:p>
            <a:endParaRPr lang="en-US"/>
          </a:p>
        </p:txBody>
      </p:sp>
      <p:sp>
        <p:nvSpPr>
          <p:cNvPr id="8" name="Shape 6"/>
          <p:cNvSpPr/>
          <p:nvPr/>
        </p:nvSpPr>
        <p:spPr>
          <a:xfrm>
            <a:off x="5130284" y="1719977"/>
            <a:ext cx="22860" cy="1670209"/>
          </a:xfrm>
          <a:prstGeom prst="roundRect">
            <a:avLst>
              <a:gd name="adj" fmla="val 121236"/>
            </a:avLst>
          </a:prstGeom>
          <a:solidFill>
            <a:srgbClr val="D8D4D4"/>
          </a:solidFill>
          <a:ln/>
        </p:spPr>
        <p:txBody>
          <a:bodyPr/>
          <a:lstStyle/>
          <a:p>
            <a:endParaRPr lang="en-US"/>
          </a:p>
        </p:txBody>
      </p:sp>
      <p:sp>
        <p:nvSpPr>
          <p:cNvPr id="9" name="Text 7"/>
          <p:cNvSpPr/>
          <p:nvPr/>
        </p:nvSpPr>
        <p:spPr>
          <a:xfrm>
            <a:off x="5314950" y="1904643"/>
            <a:ext cx="2718197" cy="303133"/>
          </a:xfrm>
          <a:prstGeom prst="rect">
            <a:avLst/>
          </a:prstGeom>
          <a:noFill/>
          <a:ln/>
        </p:spPr>
        <p:txBody>
          <a:bodyPr wrap="none" lIns="0" tIns="0" rIns="0" bIns="0" rtlCol="0" anchor="t"/>
          <a:lstStyle/>
          <a:p>
            <a:pPr marL="0" indent="0" algn="l">
              <a:lnSpc>
                <a:spcPts val="2350"/>
              </a:lnSpc>
              <a:buNone/>
            </a:pPr>
            <a:r>
              <a:rPr lang="en-US" sz="1900" dirty="0">
                <a:solidFill>
                  <a:srgbClr val="383838"/>
                </a:solidFill>
                <a:latin typeface="PT Serif" pitchFamily="34" charset="0"/>
                <a:ea typeface="PT Serif" pitchFamily="34" charset="-122"/>
                <a:cs typeface="PT Serif" pitchFamily="34" charset="-120"/>
              </a:rPr>
              <a:t>Set Inventory Thresholds</a:t>
            </a:r>
            <a:endParaRPr lang="en-US" sz="1900" dirty="0"/>
          </a:p>
        </p:txBody>
      </p:sp>
      <p:sp>
        <p:nvSpPr>
          <p:cNvPr id="10" name="Text 8"/>
          <p:cNvSpPr/>
          <p:nvPr/>
        </p:nvSpPr>
        <p:spPr>
          <a:xfrm>
            <a:off x="5314950" y="2318623"/>
            <a:ext cx="4000381" cy="886897"/>
          </a:xfrm>
          <a:prstGeom prst="rect">
            <a:avLst/>
          </a:prstGeom>
          <a:noFill/>
          <a:ln/>
        </p:spPr>
        <p:txBody>
          <a:bodyPr wrap="square" lIns="0" tIns="0" rIns="0" bIns="0" rtlCol="0" anchor="t"/>
          <a:lstStyle/>
          <a:p>
            <a:pPr marL="0" indent="0" algn="l">
              <a:lnSpc>
                <a:spcPts val="2300"/>
              </a:lnSpc>
              <a:buNone/>
            </a:pPr>
            <a:r>
              <a:rPr lang="en-US" sz="1450" dirty="0">
                <a:solidFill>
                  <a:srgbClr val="383838"/>
                </a:solidFill>
                <a:latin typeface="DM Sans" pitchFamily="34" charset="0"/>
                <a:ea typeface="DM Sans" pitchFamily="34" charset="-122"/>
                <a:cs typeface="DM Sans" pitchFamily="34" charset="-120"/>
              </a:rPr>
              <a:t>Align on inventory exposure limits by product category, establishing clear guidelines for working capital allocation</a:t>
            </a:r>
            <a:endParaRPr lang="en-US" sz="1450" dirty="0"/>
          </a:p>
        </p:txBody>
      </p:sp>
      <p:sp>
        <p:nvSpPr>
          <p:cNvPr id="11" name="Shape 9"/>
          <p:cNvSpPr/>
          <p:nvPr/>
        </p:nvSpPr>
        <p:spPr>
          <a:xfrm>
            <a:off x="9499997" y="1719977"/>
            <a:ext cx="4369713" cy="1670209"/>
          </a:xfrm>
          <a:prstGeom prst="rect">
            <a:avLst/>
          </a:prstGeom>
          <a:solidFill>
            <a:srgbClr val="F2EEEE"/>
          </a:solidFill>
          <a:ln/>
        </p:spPr>
        <p:txBody>
          <a:bodyPr/>
          <a:lstStyle/>
          <a:p>
            <a:endParaRPr lang="en-US"/>
          </a:p>
        </p:txBody>
      </p:sp>
      <p:sp>
        <p:nvSpPr>
          <p:cNvPr id="12" name="Shape 10"/>
          <p:cNvSpPr/>
          <p:nvPr/>
        </p:nvSpPr>
        <p:spPr>
          <a:xfrm>
            <a:off x="9499997" y="1719977"/>
            <a:ext cx="22860" cy="1670209"/>
          </a:xfrm>
          <a:prstGeom prst="roundRect">
            <a:avLst>
              <a:gd name="adj" fmla="val 121236"/>
            </a:avLst>
          </a:prstGeom>
          <a:solidFill>
            <a:srgbClr val="D8D4D4"/>
          </a:solidFill>
          <a:ln/>
        </p:spPr>
        <p:txBody>
          <a:bodyPr/>
          <a:lstStyle/>
          <a:p>
            <a:endParaRPr lang="en-US"/>
          </a:p>
        </p:txBody>
      </p:sp>
      <p:sp>
        <p:nvSpPr>
          <p:cNvPr id="13" name="Text 11"/>
          <p:cNvSpPr/>
          <p:nvPr/>
        </p:nvSpPr>
        <p:spPr>
          <a:xfrm>
            <a:off x="9684663" y="1904643"/>
            <a:ext cx="3099078" cy="303133"/>
          </a:xfrm>
          <a:prstGeom prst="rect">
            <a:avLst/>
          </a:prstGeom>
          <a:noFill/>
          <a:ln/>
        </p:spPr>
        <p:txBody>
          <a:bodyPr wrap="none" lIns="0" tIns="0" rIns="0" bIns="0" rtlCol="0" anchor="t"/>
          <a:lstStyle/>
          <a:p>
            <a:pPr marL="0" indent="0" algn="l">
              <a:lnSpc>
                <a:spcPts val="2350"/>
              </a:lnSpc>
              <a:buNone/>
            </a:pPr>
            <a:r>
              <a:rPr lang="en-US" sz="1900" dirty="0">
                <a:solidFill>
                  <a:srgbClr val="383838"/>
                </a:solidFill>
                <a:latin typeface="PT Serif" pitchFamily="34" charset="0"/>
                <a:ea typeface="PT Serif" pitchFamily="34" charset="-122"/>
                <a:cs typeface="PT Serif" pitchFamily="34" charset="-120"/>
              </a:rPr>
              <a:t>Launch Risk Review Cadence</a:t>
            </a:r>
            <a:endParaRPr lang="en-US" sz="1900" dirty="0"/>
          </a:p>
        </p:txBody>
      </p:sp>
      <p:sp>
        <p:nvSpPr>
          <p:cNvPr id="14" name="Text 12"/>
          <p:cNvSpPr/>
          <p:nvPr/>
        </p:nvSpPr>
        <p:spPr>
          <a:xfrm>
            <a:off x="9684663" y="2318623"/>
            <a:ext cx="4000381" cy="886897"/>
          </a:xfrm>
          <a:prstGeom prst="rect">
            <a:avLst/>
          </a:prstGeom>
          <a:noFill/>
          <a:ln/>
        </p:spPr>
        <p:txBody>
          <a:bodyPr wrap="square" lIns="0" tIns="0" rIns="0" bIns="0" rtlCol="0" anchor="t"/>
          <a:lstStyle/>
          <a:p>
            <a:pPr marL="0" indent="0" algn="l">
              <a:lnSpc>
                <a:spcPts val="2300"/>
              </a:lnSpc>
              <a:buNone/>
            </a:pPr>
            <a:r>
              <a:rPr lang="en-US" sz="1450" dirty="0">
                <a:solidFill>
                  <a:srgbClr val="383838"/>
                </a:solidFill>
                <a:latin typeface="DM Sans" pitchFamily="34" charset="0"/>
                <a:ea typeface="DM Sans" pitchFamily="34" charset="-122"/>
                <a:cs typeface="DM Sans" pitchFamily="34" charset="-120"/>
              </a:rPr>
              <a:t>Establish monthly operational risk reviews covering delivery, inventory, and quality metrics with executive steering</a:t>
            </a:r>
            <a:endParaRPr lang="en-US" sz="1450" dirty="0"/>
          </a:p>
        </p:txBody>
      </p:sp>
      <p:pic>
        <p:nvPicPr>
          <p:cNvPr id="15" name="Image 0" descr="preencoded.png"/>
          <p:cNvPicPr>
            <a:picLocks noChangeAspect="1"/>
          </p:cNvPicPr>
          <p:nvPr/>
        </p:nvPicPr>
        <p:blipFill>
          <a:blip r:embed="rId3"/>
          <a:stretch>
            <a:fillRect/>
          </a:stretch>
        </p:blipFill>
        <p:spPr>
          <a:xfrm>
            <a:off x="760690" y="3597950"/>
            <a:ext cx="450294" cy="450294"/>
          </a:xfrm>
          <a:prstGeom prst="rect">
            <a:avLst/>
          </a:prstGeom>
        </p:spPr>
      </p:pic>
      <p:sp>
        <p:nvSpPr>
          <p:cNvPr id="16" name="Text 13"/>
          <p:cNvSpPr/>
          <p:nvPr/>
        </p:nvSpPr>
        <p:spPr>
          <a:xfrm>
            <a:off x="1037749" y="4463772"/>
            <a:ext cx="12831961" cy="591264"/>
          </a:xfrm>
          <a:prstGeom prst="rect">
            <a:avLst/>
          </a:prstGeom>
          <a:noFill/>
          <a:ln/>
        </p:spPr>
        <p:txBody>
          <a:bodyPr wrap="square" lIns="0" tIns="0" rIns="0" bIns="0" rtlCol="0" anchor="t"/>
          <a:lstStyle/>
          <a:p>
            <a:pPr marL="0" indent="0" algn="l">
              <a:lnSpc>
                <a:spcPts val="2300"/>
              </a:lnSpc>
              <a:buNone/>
            </a:pPr>
            <a:r>
              <a:rPr lang="en-US" sz="1450" i="1" dirty="0">
                <a:solidFill>
                  <a:srgbClr val="383838"/>
                </a:solidFill>
                <a:latin typeface="DM Sans" pitchFamily="34" charset="0"/>
                <a:ea typeface="DM Sans" pitchFamily="34" charset="-122"/>
                <a:cs typeface="DM Sans" pitchFamily="34" charset="-120"/>
              </a:rPr>
              <a:t>"Operational excellence is the foundation of sustained profitability. These recommendations transform identified risks into competitive advantages through disciplined execution."</a:t>
            </a:r>
            <a:endParaRPr lang="en-US" sz="1450" dirty="0"/>
          </a:p>
        </p:txBody>
      </p:sp>
      <p:sp>
        <p:nvSpPr>
          <p:cNvPr id="17" name="Shape 14"/>
          <p:cNvSpPr/>
          <p:nvPr/>
        </p:nvSpPr>
        <p:spPr>
          <a:xfrm>
            <a:off x="760690" y="4256008"/>
            <a:ext cx="22860" cy="1006792"/>
          </a:xfrm>
          <a:prstGeom prst="rect">
            <a:avLst/>
          </a:prstGeom>
          <a:solidFill>
            <a:srgbClr val="E04F00"/>
          </a:solidFill>
          <a:ln/>
        </p:spPr>
        <p:txBody>
          <a:bodyPr/>
          <a:lstStyle/>
          <a:p>
            <a:endParaRPr lang="en-US"/>
          </a:p>
        </p:txBody>
      </p:sp>
      <p:sp>
        <p:nvSpPr>
          <p:cNvPr id="18" name="Text 15"/>
          <p:cNvSpPr/>
          <p:nvPr/>
        </p:nvSpPr>
        <p:spPr>
          <a:xfrm>
            <a:off x="760690" y="5539859"/>
            <a:ext cx="3173730" cy="363736"/>
          </a:xfrm>
          <a:prstGeom prst="rect">
            <a:avLst/>
          </a:prstGeom>
          <a:noFill/>
          <a:ln/>
        </p:spPr>
        <p:txBody>
          <a:bodyPr wrap="none" lIns="0" tIns="0" rIns="0" bIns="0" rtlCol="0" anchor="t"/>
          <a:lstStyle/>
          <a:p>
            <a:pPr marL="0" indent="0" algn="l">
              <a:lnSpc>
                <a:spcPts val="2850"/>
              </a:lnSpc>
              <a:buNone/>
            </a:pPr>
            <a:r>
              <a:rPr lang="en-US" sz="2250" dirty="0">
                <a:solidFill>
                  <a:srgbClr val="020202"/>
                </a:solidFill>
                <a:latin typeface="PT Serif" pitchFamily="34" charset="0"/>
                <a:ea typeface="PT Serif" pitchFamily="34" charset="-122"/>
                <a:cs typeface="PT Serif" pitchFamily="34" charset="-120"/>
              </a:rPr>
              <a:t>Next steps (30–60 days):</a:t>
            </a:r>
            <a:endParaRPr lang="en-US" sz="2250" dirty="0"/>
          </a:p>
        </p:txBody>
      </p:sp>
      <p:sp>
        <p:nvSpPr>
          <p:cNvPr id="19" name="Text 16"/>
          <p:cNvSpPr/>
          <p:nvPr/>
        </p:nvSpPr>
        <p:spPr>
          <a:xfrm>
            <a:off x="760690" y="6180653"/>
            <a:ext cx="13109019" cy="295632"/>
          </a:xfrm>
          <a:prstGeom prst="rect">
            <a:avLst/>
          </a:prstGeom>
          <a:noFill/>
          <a:ln/>
        </p:spPr>
        <p:txBody>
          <a:bodyPr wrap="none" lIns="0" tIns="0" rIns="0" bIns="0" rtlCol="0" anchor="t"/>
          <a:lstStyle/>
          <a:p>
            <a:pPr marL="342900" indent="-342900" algn="l">
              <a:lnSpc>
                <a:spcPts val="2300"/>
              </a:lnSpc>
              <a:buSzPct val="100000"/>
              <a:buChar char="•"/>
            </a:pPr>
            <a:r>
              <a:rPr lang="en-US" sz="1450" dirty="0">
                <a:solidFill>
                  <a:srgbClr val="383838"/>
                </a:solidFill>
                <a:latin typeface="DM Sans" pitchFamily="34" charset="0"/>
                <a:ea typeface="DM Sans" pitchFamily="34" charset="-122"/>
                <a:cs typeface="DM Sans" pitchFamily="34" charset="-120"/>
              </a:rPr>
              <a:t>Pilot carrier changes on Route A</a:t>
            </a:r>
            <a:endParaRPr lang="en-US" sz="1450" dirty="0"/>
          </a:p>
        </p:txBody>
      </p:sp>
      <p:sp>
        <p:nvSpPr>
          <p:cNvPr id="20" name="Text 17"/>
          <p:cNvSpPr/>
          <p:nvPr/>
        </p:nvSpPr>
        <p:spPr>
          <a:xfrm>
            <a:off x="760690" y="6540937"/>
            <a:ext cx="13109019" cy="295632"/>
          </a:xfrm>
          <a:prstGeom prst="rect">
            <a:avLst/>
          </a:prstGeom>
          <a:noFill/>
          <a:ln/>
        </p:spPr>
        <p:txBody>
          <a:bodyPr wrap="none" lIns="0" tIns="0" rIns="0" bIns="0" rtlCol="0" anchor="t"/>
          <a:lstStyle/>
          <a:p>
            <a:pPr marL="342900" indent="-342900" algn="l">
              <a:lnSpc>
                <a:spcPts val="2300"/>
              </a:lnSpc>
              <a:buSzPct val="100000"/>
              <a:buChar char="•"/>
            </a:pPr>
            <a:r>
              <a:rPr lang="en-US" sz="1450" dirty="0">
                <a:solidFill>
                  <a:srgbClr val="383838"/>
                </a:solidFill>
                <a:latin typeface="DM Sans" pitchFamily="34" charset="0"/>
                <a:ea typeface="DM Sans" pitchFamily="34" charset="-122"/>
                <a:cs typeface="DM Sans" pitchFamily="34" charset="-120"/>
              </a:rPr>
              <a:t>Adjust inventory targets for cosmetics</a:t>
            </a:r>
            <a:endParaRPr lang="en-US" sz="1450" dirty="0"/>
          </a:p>
        </p:txBody>
      </p:sp>
      <p:sp>
        <p:nvSpPr>
          <p:cNvPr id="21" name="Text 18"/>
          <p:cNvSpPr/>
          <p:nvPr/>
        </p:nvSpPr>
        <p:spPr>
          <a:xfrm>
            <a:off x="760690" y="6901220"/>
            <a:ext cx="13109019" cy="295632"/>
          </a:xfrm>
          <a:prstGeom prst="rect">
            <a:avLst/>
          </a:prstGeom>
          <a:noFill/>
          <a:ln/>
        </p:spPr>
        <p:txBody>
          <a:bodyPr wrap="none" lIns="0" tIns="0" rIns="0" bIns="0" rtlCol="0" anchor="t"/>
          <a:lstStyle/>
          <a:p>
            <a:pPr marL="342900" indent="-342900" algn="l">
              <a:lnSpc>
                <a:spcPts val="2300"/>
              </a:lnSpc>
              <a:buSzPct val="100000"/>
              <a:buChar char="•"/>
            </a:pPr>
            <a:r>
              <a:rPr lang="en-US" sz="1450" dirty="0">
                <a:solidFill>
                  <a:srgbClr val="383838"/>
                </a:solidFill>
                <a:latin typeface="DM Sans" pitchFamily="34" charset="0"/>
                <a:ea typeface="DM Sans" pitchFamily="34" charset="-122"/>
                <a:cs typeface="DM Sans" pitchFamily="34" charset="-120"/>
              </a:rPr>
              <a:t>Track financial impact of delivery improvements</a:t>
            </a:r>
            <a:endParaRPr lang="en-US" sz="1450" dirty="0"/>
          </a:p>
        </p:txBody>
      </p:sp>
      <p:pic>
        <p:nvPicPr>
          <p:cNvPr id="22" name="Image 1" descr="preencoded.png"/>
          <p:cNvPicPr>
            <a:picLocks noChangeAspect="1"/>
          </p:cNvPicPr>
          <p:nvPr/>
        </p:nvPicPr>
        <p:blipFill>
          <a:blip r:embed="rId4"/>
          <a:stretch>
            <a:fillRect/>
          </a:stretch>
        </p:blipFill>
        <p:spPr>
          <a:xfrm>
            <a:off x="760690" y="7404616"/>
            <a:ext cx="3221712" cy="80724"/>
          </a:xfrm>
          <a:prstGeom prst="rect">
            <a:avLst/>
          </a:prstGeom>
        </p:spPr>
      </p:pic>
      <p:sp>
        <p:nvSpPr>
          <p:cNvPr id="23" name="Rectangle 22">
            <a:extLst>
              <a:ext uri="{FF2B5EF4-FFF2-40B4-BE49-F238E27FC236}">
                <a16:creationId xmlns:a16="http://schemas.microsoft.com/office/drawing/2014/main" id="{1D3C4C0C-2C27-D11A-6622-9511B53A7780}"/>
              </a:ext>
            </a:extLst>
          </p:cNvPr>
          <p:cNvSpPr/>
          <p:nvPr/>
        </p:nvSpPr>
        <p:spPr>
          <a:xfrm>
            <a:off x="12443460" y="7581900"/>
            <a:ext cx="2133600" cy="5912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1204</Words>
  <Application>Microsoft Office PowerPoint</Application>
  <PresentationFormat>Custom</PresentationFormat>
  <Paragraphs>122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PT Serif Light</vt:lpstr>
      <vt:lpstr>Arial</vt:lpstr>
      <vt:lpstr>PT Serif</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Md Toahir Hussain Tapadar</cp:lastModifiedBy>
  <cp:revision>4</cp:revision>
  <dcterms:created xsi:type="dcterms:W3CDTF">2026-01-05T18:32:04Z</dcterms:created>
  <dcterms:modified xsi:type="dcterms:W3CDTF">2026-01-05T19:25:35Z</dcterms:modified>
</cp:coreProperties>
</file>